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82" r:id="rId1"/>
  </p:sldMasterIdLst>
  <p:notesMasterIdLst>
    <p:notesMasterId r:id="rId19"/>
  </p:notesMasterIdLst>
  <p:sldIdLst>
    <p:sldId id="256" r:id="rId2"/>
    <p:sldId id="257" r:id="rId3"/>
    <p:sldId id="258" r:id="rId4"/>
    <p:sldId id="259" r:id="rId5"/>
    <p:sldId id="260" r:id="rId6"/>
    <p:sldId id="261" r:id="rId7"/>
    <p:sldId id="262" r:id="rId8"/>
    <p:sldId id="263" r:id="rId9"/>
    <p:sldId id="265" r:id="rId10"/>
    <p:sldId id="267" r:id="rId11"/>
    <p:sldId id="268" r:id="rId12"/>
    <p:sldId id="272" r:id="rId13"/>
    <p:sldId id="274" r:id="rId14"/>
    <p:sldId id="275" r:id="rId15"/>
    <p:sldId id="269" r:id="rId16"/>
    <p:sldId id="270"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0D47EBD-286D-47BD-B2A2-19F8DC54A8F0}">
          <p14:sldIdLst>
            <p14:sldId id="256"/>
            <p14:sldId id="257"/>
            <p14:sldId id="258"/>
            <p14:sldId id="259"/>
            <p14:sldId id="260"/>
            <p14:sldId id="261"/>
            <p14:sldId id="262"/>
            <p14:sldId id="263"/>
            <p14:sldId id="265"/>
            <p14:sldId id="267"/>
            <p14:sldId id="268"/>
            <p14:sldId id="272"/>
            <p14:sldId id="274"/>
            <p14:sldId id="275"/>
          </p14:sldIdLst>
        </p14:section>
        <p14:section name="Untitled Section" id="{D247ADE8-EBC8-4C63-9C95-BECFCA25AA26}">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5D062B-C73F-441E-B5B9-526124286026}" v="27" dt="2025-04-14T14:13:14.9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82" d="100"/>
          <a:sy n="82" d="100"/>
        </p:scale>
        <p:origin x="72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4B17C4-4308-4355-B287-9963385D585D}" type="datetimeFigureOut">
              <a:rPr lang="en-IN" smtClean="0"/>
              <a:t>11-04-2025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58B2DF-A21B-4211-8DD6-627B50E38215}" type="slidenum">
              <a:rPr lang="en-IN" smtClean="0"/>
              <a:t>‹#›</a:t>
            </a:fld>
            <a:endParaRPr lang="en-IN"/>
          </a:p>
        </p:txBody>
      </p:sp>
    </p:spTree>
    <p:extLst>
      <p:ext uri="{BB962C8B-B14F-4D97-AF65-F5344CB8AC3E}">
        <p14:creationId xmlns:p14="http://schemas.microsoft.com/office/powerpoint/2010/main" val="24574893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958B2DF-A21B-4211-8DD6-627B50E38215}" type="slidenum">
              <a:rPr lang="en-IN" smtClean="0"/>
              <a:t>2</a:t>
            </a:fld>
            <a:endParaRPr lang="en-IN"/>
          </a:p>
        </p:txBody>
      </p:sp>
    </p:spTree>
    <p:extLst>
      <p:ext uri="{BB962C8B-B14F-4D97-AF65-F5344CB8AC3E}">
        <p14:creationId xmlns:p14="http://schemas.microsoft.com/office/powerpoint/2010/main" val="4743634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spc="3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Rectangle 6"/>
          <p:cNvSpPr/>
          <p:nvPr/>
        </p:nvSpPr>
        <p:spPr>
          <a:xfrm>
            <a:off x="0" y="0"/>
            <a:ext cx="457200" cy="6858000"/>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Date Placeholder 7"/>
          <p:cNvSpPr>
            <a:spLocks noGrp="1"/>
          </p:cNvSpPr>
          <p:nvPr>
            <p:ph type="dt" sz="half" idx="10"/>
          </p:nvPr>
        </p:nvSpPr>
        <p:spPr/>
        <p:txBody>
          <a:bodyPr/>
          <a:lstStyle/>
          <a:p>
            <a:fld id="{6C76B23F-35BE-4F59-9E97-4730170A6317}" type="datetimeFigureOut">
              <a:rPr lang="en-IN" smtClean="0"/>
              <a:t>11-04-2025</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BF7AD851-A6A3-4209-8808-10B60433653C}" type="slidenum">
              <a:rPr lang="en-IN" smtClean="0"/>
              <a:t>‹#›</a:t>
            </a:fld>
            <a:endParaRPr lang="en-IN"/>
          </a:p>
        </p:txBody>
      </p:sp>
    </p:spTree>
    <p:extLst>
      <p:ext uri="{BB962C8B-B14F-4D97-AF65-F5344CB8AC3E}">
        <p14:creationId xmlns:p14="http://schemas.microsoft.com/office/powerpoint/2010/main" val="329115896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76B23F-35BE-4F59-9E97-4730170A6317}" type="datetimeFigureOut">
              <a:rPr lang="en-IN" smtClean="0"/>
              <a:t>11-04-2025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7AD851-A6A3-4209-8808-10B60433653C}" type="slidenum">
              <a:rPr lang="en-IN" smtClean="0"/>
              <a:t>‹#›</a:t>
            </a:fld>
            <a:endParaRPr lang="en-IN"/>
          </a:p>
        </p:txBody>
      </p:sp>
      <p:sp>
        <p:nvSpPr>
          <p:cNvPr id="8" name="Rectangle 7"/>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112127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1"/>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spc="30" baseline="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76B23F-35BE-4F59-9E97-4730170A6317}" type="datetimeFigureOut">
              <a:rPr lang="en-IN" smtClean="0"/>
              <a:t>11-04-2025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7AD851-A6A3-4209-8808-10B60433653C}" type="slidenum">
              <a:rPr lang="en-IN" smtClean="0"/>
              <a:t>‹#›</a:t>
            </a:fld>
            <a:endParaRPr lang="en-IN"/>
          </a:p>
        </p:txBody>
      </p:sp>
      <p:sp>
        <p:nvSpPr>
          <p:cNvPr id="8" name="Rectangle 7"/>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471772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C76B23F-35BE-4F59-9E97-4730170A6317}" type="datetimeFigureOut">
              <a:rPr lang="en-IN" smtClean="0"/>
              <a:t>11-04-2025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7AD851-A6A3-4209-8808-10B60433653C}" type="slidenum">
              <a:rPr lang="en-IN" smtClean="0"/>
              <a:t>‹#›</a:t>
            </a:fld>
            <a:endParaRPr lang="en-IN"/>
          </a:p>
        </p:txBody>
      </p:sp>
      <p:sp>
        <p:nvSpPr>
          <p:cNvPr id="8" name="Rectangle 7"/>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132760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C76B23F-35BE-4F59-9E97-4730170A6317}" type="datetimeFigureOut">
              <a:rPr lang="en-IN" smtClean="0"/>
              <a:t>11-04-2025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F7AD851-A6A3-4209-8808-10B60433653C}" type="slidenum">
              <a:rPr lang="en-IN" smtClean="0"/>
              <a:t>‹#›</a:t>
            </a:fld>
            <a:endParaRPr lang="en-IN"/>
          </a:p>
        </p:txBody>
      </p:sp>
      <p:sp>
        <p:nvSpPr>
          <p:cNvPr id="11" name="Rectangle 10"/>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344805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C76B23F-35BE-4F59-9E97-4730170A6317}" type="datetimeFigureOut">
              <a:rPr lang="en-IN" smtClean="0"/>
              <a:t>11-04-2025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F7AD851-A6A3-4209-8808-10B60433653C}" type="slidenum">
              <a:rPr lang="en-IN" smtClean="0"/>
              <a:t>‹#›</a:t>
            </a:fld>
            <a:endParaRPr lang="en-IN"/>
          </a:p>
        </p:txBody>
      </p:sp>
      <p:sp>
        <p:nvSpPr>
          <p:cNvPr id="7" name="Rectangle 6"/>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928099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76B23F-35BE-4F59-9E97-4730170A6317}" type="datetimeFigureOut">
              <a:rPr lang="en-IN" smtClean="0"/>
              <a:t>11-04-2025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F7AD851-A6A3-4209-8808-10B60433653C}" type="slidenum">
              <a:rPr lang="en-IN" smtClean="0"/>
              <a:t>‹#›</a:t>
            </a:fld>
            <a:endParaRPr lang="en-IN"/>
          </a:p>
        </p:txBody>
      </p:sp>
      <p:sp>
        <p:nvSpPr>
          <p:cNvPr id="5" name="Rectangle 4"/>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7862874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2800" b="1"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C76B23F-35BE-4F59-9E97-4730170A6317}" type="datetimeFigureOut">
              <a:rPr lang="en-IN" smtClean="0"/>
              <a:t>11-04-2025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7AD851-A6A3-4209-8808-10B60433653C}" type="slidenum">
              <a:rPr lang="en-IN" smtClean="0"/>
              <a:t>‹#›</a:t>
            </a:fld>
            <a:endParaRPr lang="en-IN"/>
          </a:p>
        </p:txBody>
      </p:sp>
    </p:spTree>
    <p:extLst>
      <p:ext uri="{BB962C8B-B14F-4D97-AF65-F5344CB8AC3E}">
        <p14:creationId xmlns:p14="http://schemas.microsoft.com/office/powerpoint/2010/main" val="3096377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1">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400" baseline="0">
                <a:solidFill>
                  <a:schemeClr val="bg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C76B23F-35BE-4F59-9E97-4730170A6317}" type="datetimeFigureOut">
              <a:rPr lang="en-IN" smtClean="0"/>
              <a:t>11-04-2025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7AD851-A6A3-4209-8808-10B60433653C}" type="slidenum">
              <a:rPr lang="en-IN" smtClean="0"/>
              <a:t>‹#›</a:t>
            </a:fld>
            <a:endParaRPr lang="en-IN"/>
          </a:p>
        </p:txBody>
      </p:sp>
    </p:spTree>
    <p:extLst>
      <p:ext uri="{BB962C8B-B14F-4D97-AF65-F5344CB8AC3E}">
        <p14:creationId xmlns:p14="http://schemas.microsoft.com/office/powerpoint/2010/main" val="1574140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76B23F-35BE-4F59-9E97-4730170A6317}" type="datetimeFigureOut">
              <a:rPr lang="en-IN" smtClean="0"/>
              <a:t>11-04-2025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7AD851-A6A3-4209-8808-10B60433653C}" type="slidenum">
              <a:rPr lang="en-IN" smtClean="0"/>
              <a:t>‹#›</a:t>
            </a:fld>
            <a:endParaRPr lang="en-IN"/>
          </a:p>
        </p:txBody>
      </p:sp>
      <p:sp>
        <p:nvSpPr>
          <p:cNvPr id="7" name="Rectangle 6"/>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787584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76B23F-35BE-4F59-9E97-4730170A6317}" type="datetimeFigureOut">
              <a:rPr lang="en-IN" smtClean="0"/>
              <a:t>11-04-2025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7AD851-A6A3-4209-8808-10B60433653C}" type="slidenum">
              <a:rPr lang="en-IN" smtClean="0"/>
              <a:t>‹#›</a:t>
            </a:fld>
            <a:endParaRPr lang="en-IN"/>
          </a:p>
        </p:txBody>
      </p:sp>
      <p:sp>
        <p:nvSpPr>
          <p:cNvPr id="7" name="Rectangle 6"/>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865781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294198"/>
            <a:ext cx="9692640" cy="1397124"/>
          </a:xfrm>
          <a:prstGeom prst="rect">
            <a:avLst/>
          </a:prstGeom>
        </p:spPr>
        <p:txBody>
          <a:bodyPr vert="horz" lIns="91440" tIns="27432"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accent1">
                    <a:lumMod val="40000"/>
                    <a:lumOff val="60000"/>
                  </a:schemeClr>
                </a:solidFill>
              </a:defRPr>
            </a:lvl1pPr>
          </a:lstStyle>
          <a:p>
            <a:fld id="{6C76B23F-35BE-4F59-9E97-4730170A6317}" type="datetimeFigureOut">
              <a:rPr lang="en-IN" smtClean="0"/>
              <a:t>11-04-2025</a:t>
            </a:fld>
            <a:endParaRPr lang="en-IN"/>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accent1">
                    <a:lumMod val="40000"/>
                    <a:lumOff val="60000"/>
                  </a:schemeClr>
                </a:solidFill>
              </a:defRPr>
            </a:lvl1pPr>
          </a:lstStyle>
          <a:p>
            <a:endParaRPr lang="en-IN"/>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accent1">
                    <a:lumMod val="60000"/>
                    <a:lumOff val="40000"/>
                  </a:schemeClr>
                </a:solidFill>
                <a:latin typeface="+mj-lt"/>
              </a:defRPr>
            </a:lvl1pPr>
          </a:lstStyle>
          <a:p>
            <a:fld id="{BF7AD851-A6A3-4209-8808-10B60433653C}" type="slidenum">
              <a:rPr lang="en-IN" smtClean="0"/>
              <a:t>‹#›</a:t>
            </a:fld>
            <a:endParaRPr lang="en-IN"/>
          </a:p>
        </p:txBody>
      </p:sp>
    </p:spTree>
    <p:extLst>
      <p:ext uri="{BB962C8B-B14F-4D97-AF65-F5344CB8AC3E}">
        <p14:creationId xmlns:p14="http://schemas.microsoft.com/office/powerpoint/2010/main" val="3536877508"/>
      </p:ext>
    </p:extLst>
  </p:cSld>
  <p:clrMap bg1="lt1" tx1="dk1" bg2="lt2" tx2="dk2" accent1="accent1" accent2="accent2" accent3="accent3" accent4="accent4" accent5="accent5" accent6="accent6" hlink="hlink" folHlink="folHlink"/>
  <p:sldLayoutIdLst>
    <p:sldLayoutId id="2147484183" r:id="rId1"/>
    <p:sldLayoutId id="2147484184" r:id="rId2"/>
    <p:sldLayoutId id="2147484185" r:id="rId3"/>
    <p:sldLayoutId id="2147484186" r:id="rId4"/>
    <p:sldLayoutId id="2147484187" r:id="rId5"/>
    <p:sldLayoutId id="2147484188" r:id="rId6"/>
    <p:sldLayoutId id="2147484189" r:id="rId7"/>
    <p:sldLayoutId id="2147484190" r:id="rId8"/>
    <p:sldLayoutId id="2147484191" r:id="rId9"/>
    <p:sldLayoutId id="2147484192" r:id="rId10"/>
    <p:sldLayoutId id="2147484193" r:id="rId11"/>
  </p:sldLayoutIdLst>
  <p:txStyles>
    <p:titleStyle>
      <a:lvl1pPr algn="l" defTabSz="914400" rtl="0" eaLnBrk="1" latinLnBrk="0" hangingPunct="1">
        <a:lnSpc>
          <a:spcPct val="90000"/>
        </a:lnSpc>
        <a:spcBef>
          <a:spcPct val="0"/>
        </a:spcBef>
        <a:buNone/>
        <a:defRPr sz="4400" b="1" kern="1200" spc="-50" baseline="0">
          <a:solidFill>
            <a:schemeClr val="accent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lumMod val="65000"/>
              <a:lumOff val="35000"/>
            </a:schemeClr>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E8FA1-04FC-F4B6-D64E-8649C58CAA51}"/>
              </a:ext>
            </a:extLst>
          </p:cNvPr>
          <p:cNvSpPr>
            <a:spLocks noGrp="1"/>
          </p:cNvSpPr>
          <p:nvPr>
            <p:ph type="ctrTitle"/>
          </p:nvPr>
        </p:nvSpPr>
        <p:spPr/>
        <p:txBody>
          <a:bodyPr>
            <a:normAutofit fontScale="90000"/>
          </a:bodyPr>
          <a:lstStyle/>
          <a:p>
            <a:r>
              <a:rPr lang="en-US" dirty="0"/>
              <a:t>Students Listening Prediction in class using Python-Django web frame work.</a:t>
            </a:r>
            <a:endParaRPr lang="en-IN" dirty="0"/>
          </a:p>
        </p:txBody>
      </p:sp>
      <p:sp>
        <p:nvSpPr>
          <p:cNvPr id="3" name="Subtitle 2">
            <a:extLst>
              <a:ext uri="{FF2B5EF4-FFF2-40B4-BE49-F238E27FC236}">
                <a16:creationId xmlns:a16="http://schemas.microsoft.com/office/drawing/2014/main" id="{D8B31EAF-1A41-4275-FDEE-AA1CC34B522C}"/>
              </a:ext>
            </a:extLst>
          </p:cNvPr>
          <p:cNvSpPr>
            <a:spLocks noGrp="1"/>
          </p:cNvSpPr>
          <p:nvPr>
            <p:ph type="subTitle" idx="1"/>
          </p:nvPr>
        </p:nvSpPr>
        <p:spPr/>
        <p:txBody>
          <a:bodyPr>
            <a:normAutofit/>
          </a:bodyPr>
          <a:lstStyle/>
          <a:p>
            <a:r>
              <a:rPr lang="en-US" sz="3600" dirty="0"/>
              <a:t>Let’s have a deeper look into it…..</a:t>
            </a:r>
          </a:p>
          <a:p>
            <a:endParaRPr lang="en-IN" dirty="0"/>
          </a:p>
        </p:txBody>
      </p:sp>
    </p:spTree>
    <p:extLst>
      <p:ext uri="{BB962C8B-B14F-4D97-AF65-F5344CB8AC3E}">
        <p14:creationId xmlns:p14="http://schemas.microsoft.com/office/powerpoint/2010/main" val="947159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9C521-C63D-0750-D9D8-B314FDCD7492}"/>
              </a:ext>
            </a:extLst>
          </p:cNvPr>
          <p:cNvSpPr>
            <a:spLocks noGrp="1"/>
          </p:cNvSpPr>
          <p:nvPr>
            <p:ph type="title"/>
          </p:nvPr>
        </p:nvSpPr>
        <p:spPr/>
        <p:txBody>
          <a:bodyPr/>
          <a:lstStyle/>
          <a:p>
            <a:r>
              <a:rPr lang="en-US" dirty="0"/>
              <a:t>Project Phase-I</a:t>
            </a:r>
            <a:endParaRPr lang="en-IN" dirty="0"/>
          </a:p>
        </p:txBody>
      </p:sp>
      <p:sp>
        <p:nvSpPr>
          <p:cNvPr id="3" name="Content Placeholder 2">
            <a:extLst>
              <a:ext uri="{FF2B5EF4-FFF2-40B4-BE49-F238E27FC236}">
                <a16:creationId xmlns:a16="http://schemas.microsoft.com/office/drawing/2014/main" id="{413407ED-4DCF-F376-4975-63061D06B3B5}"/>
              </a:ext>
            </a:extLst>
          </p:cNvPr>
          <p:cNvSpPr>
            <a:spLocks noGrp="1"/>
          </p:cNvSpPr>
          <p:nvPr>
            <p:ph idx="1"/>
          </p:nvPr>
        </p:nvSpPr>
        <p:spPr/>
        <p:txBody>
          <a:bodyPr>
            <a:normAutofit/>
          </a:bodyPr>
          <a:lstStyle/>
          <a:p>
            <a:r>
              <a:rPr lang="en-US" dirty="0"/>
              <a:t>Team Members:</a:t>
            </a:r>
            <a:endParaRPr lang="en-IN" dirty="0"/>
          </a:p>
          <a:p>
            <a:pPr marL="0" indent="0">
              <a:buNone/>
            </a:pPr>
            <a:r>
              <a:rPr lang="en-IN" dirty="0"/>
              <a:t>             1. Archana.A-112621104001(CSE)</a:t>
            </a:r>
          </a:p>
          <a:p>
            <a:pPr marL="0" indent="0">
              <a:buNone/>
            </a:pPr>
            <a:r>
              <a:rPr lang="en-IN" dirty="0"/>
              <a:t>             2. Keerthana.B-112621104011(CSE)</a:t>
            </a:r>
          </a:p>
          <a:p>
            <a:pPr marL="0" indent="0">
              <a:buNone/>
            </a:pPr>
            <a:r>
              <a:rPr lang="en-IN" dirty="0"/>
              <a:t>             3.Venmathi.R-112621104024(CSE)</a:t>
            </a:r>
          </a:p>
          <a:p>
            <a:pPr marL="0" indent="0">
              <a:buNone/>
            </a:pPr>
            <a:endParaRPr lang="en-IN" dirty="0"/>
          </a:p>
          <a:p>
            <a:r>
              <a:rPr lang="en-US" dirty="0"/>
              <a:t>Project Guide: Ms. Soumya</a:t>
            </a:r>
          </a:p>
          <a:p>
            <a:pPr marL="0" indent="0">
              <a:buNone/>
            </a:pPr>
            <a:r>
              <a:rPr lang="en-US" dirty="0"/>
              <a:t>                            Assistant Professor/ </a:t>
            </a:r>
            <a:r>
              <a:rPr lang="en-US" sz="1800" dirty="0"/>
              <a:t>DEPT: Cyber</a:t>
            </a:r>
            <a:endParaRPr lang="en-IN" dirty="0"/>
          </a:p>
          <a:p>
            <a:pPr marL="0" indent="0">
              <a:buNone/>
            </a:pPr>
            <a:endParaRPr lang="en-IN" dirty="0"/>
          </a:p>
          <a:p>
            <a:pPr marL="0" indent="0">
              <a:buNone/>
            </a:pPr>
            <a:endParaRPr lang="en-US" dirty="0"/>
          </a:p>
        </p:txBody>
      </p:sp>
    </p:spTree>
    <p:extLst>
      <p:ext uri="{BB962C8B-B14F-4D97-AF65-F5344CB8AC3E}">
        <p14:creationId xmlns:p14="http://schemas.microsoft.com/office/powerpoint/2010/main" val="30828332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DA235-61BC-DD3D-8505-4C9D45FC4F0F}"/>
              </a:ext>
            </a:extLst>
          </p:cNvPr>
          <p:cNvSpPr>
            <a:spLocks noGrp="1"/>
          </p:cNvSpPr>
          <p:nvPr>
            <p:ph type="title"/>
          </p:nvPr>
        </p:nvSpPr>
        <p:spPr/>
        <p:txBody>
          <a:bodyPr/>
          <a:lstStyle/>
          <a:p>
            <a:r>
              <a:rPr lang="en-US" dirty="0"/>
              <a:t>Purpose of the project:</a:t>
            </a:r>
            <a:endParaRPr lang="en-IN" dirty="0"/>
          </a:p>
        </p:txBody>
      </p:sp>
      <p:sp>
        <p:nvSpPr>
          <p:cNvPr id="3" name="Content Placeholder 2">
            <a:extLst>
              <a:ext uri="{FF2B5EF4-FFF2-40B4-BE49-F238E27FC236}">
                <a16:creationId xmlns:a16="http://schemas.microsoft.com/office/drawing/2014/main" id="{571949AA-3032-44F8-5E4C-813DA1838B4F}"/>
              </a:ext>
            </a:extLst>
          </p:cNvPr>
          <p:cNvSpPr>
            <a:spLocks noGrp="1"/>
          </p:cNvSpPr>
          <p:nvPr>
            <p:ph idx="1"/>
          </p:nvPr>
        </p:nvSpPr>
        <p:spPr/>
        <p:txBody>
          <a:bodyPr/>
          <a:lstStyle/>
          <a:p>
            <a:r>
              <a:rPr lang="en-US" dirty="0"/>
              <a:t>To precisely predict the student engagement in class with the help of Django based web application incorporated with machine learning algorithms and deep learning techniques.</a:t>
            </a:r>
          </a:p>
          <a:p>
            <a:r>
              <a:rPr lang="en-US" b="0" i="0" dirty="0">
                <a:solidFill>
                  <a:srgbClr val="374151"/>
                </a:solidFill>
                <a:effectLst/>
              </a:rPr>
              <a:t>To provide real-time feedback to educators about student engagement, allowing them to adjust their teaching strategies on the fly.</a:t>
            </a:r>
          </a:p>
          <a:p>
            <a:r>
              <a:rPr lang="en-US" b="0" i="0" dirty="0">
                <a:solidFill>
                  <a:srgbClr val="374151"/>
                </a:solidFill>
                <a:effectLst/>
              </a:rPr>
              <a:t> The goal is to enhance the learning experience and improve educational outcomes by fostering a more engaging classroom environment.</a:t>
            </a:r>
          </a:p>
          <a:p>
            <a:pPr marL="0" indent="0">
              <a:buNone/>
            </a:pPr>
            <a:endParaRPr lang="en-IN" dirty="0"/>
          </a:p>
        </p:txBody>
      </p:sp>
    </p:spTree>
    <p:extLst>
      <p:ext uri="{BB962C8B-B14F-4D97-AF65-F5344CB8AC3E}">
        <p14:creationId xmlns:p14="http://schemas.microsoft.com/office/powerpoint/2010/main" val="2588459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629B0-2395-C9BB-B7D0-F8C432222356}"/>
              </a:ext>
            </a:extLst>
          </p:cNvPr>
          <p:cNvSpPr>
            <a:spLocks noGrp="1"/>
          </p:cNvSpPr>
          <p:nvPr>
            <p:ph type="title"/>
          </p:nvPr>
        </p:nvSpPr>
        <p:spPr/>
        <p:txBody>
          <a:bodyPr/>
          <a:lstStyle/>
          <a:p>
            <a:r>
              <a:rPr lang="en-US" dirty="0"/>
              <a:t>ABSTRACT</a:t>
            </a:r>
            <a:endParaRPr lang="en-IN" dirty="0"/>
          </a:p>
        </p:txBody>
      </p:sp>
      <p:sp>
        <p:nvSpPr>
          <p:cNvPr id="3" name="Content Placeholder 2">
            <a:extLst>
              <a:ext uri="{FF2B5EF4-FFF2-40B4-BE49-F238E27FC236}">
                <a16:creationId xmlns:a16="http://schemas.microsoft.com/office/drawing/2014/main" id="{C0EEA785-32A5-947C-D06E-32BC42F1234B}"/>
              </a:ext>
            </a:extLst>
          </p:cNvPr>
          <p:cNvSpPr>
            <a:spLocks noGrp="1"/>
          </p:cNvSpPr>
          <p:nvPr>
            <p:ph idx="1"/>
          </p:nvPr>
        </p:nvSpPr>
        <p:spPr/>
        <p:txBody>
          <a:bodyPr>
            <a:normAutofit fontScale="92500" lnSpcReduction="10000"/>
          </a:bodyPr>
          <a:lstStyle/>
          <a:p>
            <a:pPr marL="0" indent="0">
              <a:buNone/>
            </a:pPr>
            <a:r>
              <a:rPr lang="en-US" dirty="0"/>
              <a:t>The present study investigates the prediction of academic achievement (high vs. low)machine learning and flask framework. Student’s performance is a success factor in higher education institutions. The excellent record of academic achievements raises the institution’s ranking as one of the criteria for a high-quality university. The main reason behind this is the lack of research on exploring different prediction methods and key attributes that influence the student’s academic performance. This systematic review intends to explore the current machine learning methods and attributes used in predicting the student’s performance. Measuring Student’s performance is necessary for the mordent society. Applications of Machine learning algorithms increased the growth in various fields like disease prediction ,student’s performance prediction, and crop productions prediction and in various other fields. The main aim of this study is to improve the prediction of students’ performance using various machine learning algorithms. And apply this model file in web application and it will predict the students performance.</a:t>
            </a:r>
            <a:endParaRPr lang="en-IN" dirty="0"/>
          </a:p>
        </p:txBody>
      </p:sp>
    </p:spTree>
    <p:extLst>
      <p:ext uri="{BB962C8B-B14F-4D97-AF65-F5344CB8AC3E}">
        <p14:creationId xmlns:p14="http://schemas.microsoft.com/office/powerpoint/2010/main" val="1127845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0DA38-59C4-6893-1DB9-B13B9225236F}"/>
              </a:ext>
            </a:extLst>
          </p:cNvPr>
          <p:cNvSpPr>
            <a:spLocks noGrp="1"/>
          </p:cNvSpPr>
          <p:nvPr>
            <p:ph type="title"/>
          </p:nvPr>
        </p:nvSpPr>
        <p:spPr/>
        <p:txBody>
          <a:bodyPr/>
          <a:lstStyle/>
          <a:p>
            <a:r>
              <a:rPr lang="en-US" dirty="0"/>
              <a:t>Tech Stack:</a:t>
            </a:r>
            <a:endParaRPr lang="en-IN" dirty="0"/>
          </a:p>
        </p:txBody>
      </p:sp>
      <p:sp>
        <p:nvSpPr>
          <p:cNvPr id="3" name="Content Placeholder 2">
            <a:extLst>
              <a:ext uri="{FF2B5EF4-FFF2-40B4-BE49-F238E27FC236}">
                <a16:creationId xmlns:a16="http://schemas.microsoft.com/office/drawing/2014/main" id="{93E21787-55C1-FFEC-C625-6FC39A94D9D0}"/>
              </a:ext>
            </a:extLst>
          </p:cNvPr>
          <p:cNvSpPr>
            <a:spLocks noGrp="1"/>
          </p:cNvSpPr>
          <p:nvPr>
            <p:ph idx="1"/>
          </p:nvPr>
        </p:nvSpPr>
        <p:spPr/>
        <p:txBody>
          <a:bodyPr>
            <a:normAutofit/>
          </a:bodyPr>
          <a:lstStyle/>
          <a:p>
            <a:pPr algn="l">
              <a:buNone/>
            </a:pPr>
            <a:r>
              <a:rPr lang="en-US" sz="1800" b="1" i="0" dirty="0">
                <a:solidFill>
                  <a:srgbClr val="111827"/>
                </a:solidFill>
                <a:effectLst/>
                <a:latin typeface="Cambria" panose="02040503050406030204" pitchFamily="18" charset="0"/>
                <a:ea typeface="Cambria" panose="02040503050406030204" pitchFamily="18" charset="0"/>
              </a:rPr>
              <a:t>1. Back-End: Django</a:t>
            </a:r>
            <a:r>
              <a:rPr lang="en-US" sz="1800" b="0" i="0" dirty="0">
                <a:solidFill>
                  <a:srgbClr val="374151"/>
                </a:solidFill>
                <a:effectLst/>
                <a:latin typeface="Cambria" panose="02040503050406030204" pitchFamily="18" charset="0"/>
                <a:ea typeface="Cambria" panose="02040503050406030204" pitchFamily="18" charset="0"/>
              </a:rPr>
              <a:t>: A high-level Python web framework that encourages rapid development and clean, pragmatic design. It handles the server-side logic, routing, and database interactions</a:t>
            </a:r>
            <a:r>
              <a:rPr lang="en-US" b="0" i="0" dirty="0">
                <a:solidFill>
                  <a:srgbClr val="374151"/>
                </a:solidFill>
                <a:effectLst/>
                <a:latin typeface="__Inter_d65c78"/>
              </a:rPr>
              <a:t>.</a:t>
            </a:r>
          </a:p>
          <a:p>
            <a:pPr algn="l">
              <a:buNone/>
            </a:pPr>
            <a:r>
              <a:rPr lang="en-US" b="1" i="0" dirty="0">
                <a:solidFill>
                  <a:srgbClr val="111827"/>
                </a:solidFill>
                <a:effectLst/>
                <a:latin typeface="Cambria" panose="02040503050406030204" pitchFamily="18" charset="0"/>
                <a:ea typeface="Cambria" panose="02040503050406030204" pitchFamily="18" charset="0"/>
              </a:rPr>
              <a:t>2. </a:t>
            </a:r>
            <a:r>
              <a:rPr lang="en-US" b="1" i="0" dirty="0">
                <a:solidFill>
                  <a:srgbClr val="111827"/>
                </a:solidFill>
                <a:effectLst/>
                <a:latin typeface="Cambria Math" panose="02040503050406030204" pitchFamily="18" charset="0"/>
                <a:ea typeface="Cambria Math" panose="02040503050406030204" pitchFamily="18" charset="0"/>
              </a:rPr>
              <a:t>Front-End</a:t>
            </a:r>
            <a:r>
              <a:rPr lang="en-US" i="0" dirty="0">
                <a:solidFill>
                  <a:srgbClr val="111827"/>
                </a:solidFill>
                <a:effectLst/>
                <a:latin typeface="Cambria Math" panose="02040503050406030204" pitchFamily="18" charset="0"/>
                <a:ea typeface="Cambria Math" panose="02040503050406030204" pitchFamily="18" charset="0"/>
              </a:rPr>
              <a:t>:</a:t>
            </a:r>
            <a:r>
              <a:rPr lang="en-US" dirty="0">
                <a:solidFill>
                  <a:srgbClr val="111827"/>
                </a:solidFill>
                <a:latin typeface="Cambria Math" panose="02040503050406030204" pitchFamily="18" charset="0"/>
                <a:ea typeface="Cambria Math" panose="02040503050406030204" pitchFamily="18" charset="0"/>
              </a:rPr>
              <a:t> </a:t>
            </a:r>
            <a:r>
              <a:rPr lang="en-US" sz="1800" dirty="0">
                <a:solidFill>
                  <a:srgbClr val="111827"/>
                </a:solidFill>
                <a:latin typeface="Cambria Math" panose="02040503050406030204" pitchFamily="18" charset="0"/>
                <a:ea typeface="Cambria Math" panose="02040503050406030204" pitchFamily="18" charset="0"/>
              </a:rPr>
              <a:t>HTML,CSS &amp; JavaScript.</a:t>
            </a:r>
          </a:p>
          <a:p>
            <a:pPr algn="l">
              <a:buNone/>
            </a:pPr>
            <a:r>
              <a:rPr lang="en-IN" b="1" i="0" dirty="0">
                <a:solidFill>
                  <a:srgbClr val="111827"/>
                </a:solidFill>
                <a:effectLst/>
                <a:latin typeface="Cambria" panose="02040503050406030204" pitchFamily="18" charset="0"/>
                <a:ea typeface="Cambria" panose="02040503050406030204" pitchFamily="18" charset="0"/>
              </a:rPr>
              <a:t>3.Database</a:t>
            </a:r>
            <a:r>
              <a:rPr lang="en-IN" sz="1800" i="0" dirty="0">
                <a:solidFill>
                  <a:srgbClr val="111827"/>
                </a:solidFill>
                <a:effectLst/>
                <a:latin typeface="Cambria" panose="02040503050406030204" pitchFamily="18" charset="0"/>
                <a:ea typeface="Cambria" panose="02040503050406030204" pitchFamily="18" charset="0"/>
              </a:rPr>
              <a:t>: PostgreSQL</a:t>
            </a:r>
          </a:p>
          <a:p>
            <a:pPr algn="l">
              <a:buNone/>
            </a:pPr>
            <a:r>
              <a:rPr lang="en-IN" b="1" i="0" dirty="0">
                <a:solidFill>
                  <a:srgbClr val="111827"/>
                </a:solidFill>
                <a:effectLst/>
                <a:latin typeface="Cambria" panose="02040503050406030204" pitchFamily="18" charset="0"/>
                <a:ea typeface="Cambria" panose="02040503050406030204" pitchFamily="18" charset="0"/>
              </a:rPr>
              <a:t>4.Machine Learning:</a:t>
            </a:r>
            <a:r>
              <a:rPr lang="en-IN" sz="1800" b="1" i="0" dirty="0">
                <a:solidFill>
                  <a:srgbClr val="111827"/>
                </a:solidFill>
                <a:effectLst/>
                <a:latin typeface="__Inter_d65c78"/>
              </a:rPr>
              <a:t> </a:t>
            </a:r>
            <a:r>
              <a:rPr lang="en-IN" sz="1800" i="0" dirty="0">
                <a:solidFill>
                  <a:srgbClr val="111827"/>
                </a:solidFill>
                <a:effectLst/>
                <a:latin typeface="Cambria" panose="02040503050406030204" pitchFamily="18" charset="0"/>
                <a:ea typeface="Cambria" panose="02040503050406030204" pitchFamily="18" charset="0"/>
              </a:rPr>
              <a:t>Pandas, </a:t>
            </a:r>
            <a:r>
              <a:rPr lang="en-IN" sz="1800" i="0" dirty="0" err="1">
                <a:solidFill>
                  <a:srgbClr val="111827"/>
                </a:solidFill>
                <a:effectLst/>
                <a:latin typeface="Cambria" panose="02040503050406030204" pitchFamily="18" charset="0"/>
                <a:ea typeface="Cambria" panose="02040503050406030204" pitchFamily="18" charset="0"/>
              </a:rPr>
              <a:t>Numpy</a:t>
            </a:r>
            <a:r>
              <a:rPr lang="en-IN" sz="1800" i="0" dirty="0">
                <a:solidFill>
                  <a:srgbClr val="111827"/>
                </a:solidFill>
                <a:effectLst/>
                <a:latin typeface="Cambria" panose="02040503050406030204" pitchFamily="18" charset="0"/>
                <a:ea typeface="Cambria" panose="02040503050406030204" pitchFamily="18" charset="0"/>
              </a:rPr>
              <a:t>, Scikit-learn</a:t>
            </a:r>
            <a:r>
              <a:rPr lang="en-IN" sz="1800" dirty="0">
                <a:solidFill>
                  <a:srgbClr val="374151"/>
                </a:solidFill>
                <a:latin typeface="__Inter_d65c78"/>
              </a:rPr>
              <a:t>, </a:t>
            </a:r>
            <a:r>
              <a:rPr lang="en-IN" sz="1800" dirty="0">
                <a:solidFill>
                  <a:srgbClr val="374151"/>
                </a:solidFill>
                <a:latin typeface="Cambria" panose="02040503050406030204" pitchFamily="18" charset="0"/>
                <a:ea typeface="Cambria" panose="02040503050406030204" pitchFamily="18" charset="0"/>
              </a:rPr>
              <a:t>TensorFlow and </a:t>
            </a:r>
            <a:r>
              <a:rPr lang="en-IN" sz="1800" dirty="0" err="1">
                <a:solidFill>
                  <a:srgbClr val="374151"/>
                </a:solidFill>
                <a:latin typeface="Cambria" panose="02040503050406030204" pitchFamily="18" charset="0"/>
                <a:ea typeface="Cambria" panose="02040503050406030204" pitchFamily="18" charset="0"/>
              </a:rPr>
              <a:t>Keras</a:t>
            </a:r>
            <a:endParaRPr lang="en-IN" sz="1800" dirty="0">
              <a:solidFill>
                <a:srgbClr val="374151"/>
              </a:solidFill>
              <a:latin typeface="Cambria" panose="02040503050406030204" pitchFamily="18" charset="0"/>
              <a:ea typeface="Cambria" panose="02040503050406030204" pitchFamily="18" charset="0"/>
            </a:endParaRPr>
          </a:p>
          <a:p>
            <a:pPr>
              <a:buNone/>
            </a:pPr>
            <a:r>
              <a:rPr lang="en-IN" sz="1800" b="1" i="0" dirty="0">
                <a:solidFill>
                  <a:srgbClr val="374151"/>
                </a:solidFill>
                <a:effectLst/>
                <a:latin typeface="__Inter_d65c78"/>
              </a:rPr>
              <a:t>5.</a:t>
            </a:r>
            <a:r>
              <a:rPr lang="en-US" sz="1600" b="1" i="0" dirty="0">
                <a:solidFill>
                  <a:srgbClr val="111827"/>
                </a:solidFill>
                <a:effectLst/>
                <a:latin typeface="__Inter_d65c78"/>
              </a:rPr>
              <a:t> </a:t>
            </a:r>
            <a:r>
              <a:rPr lang="en-US" b="1" i="0" dirty="0">
                <a:solidFill>
                  <a:srgbClr val="111827"/>
                </a:solidFill>
                <a:effectLst/>
                <a:latin typeface="Cambria" panose="02040503050406030204" pitchFamily="18" charset="0"/>
                <a:ea typeface="Cambria" panose="02040503050406030204" pitchFamily="18" charset="0"/>
              </a:rPr>
              <a:t>Web Server</a:t>
            </a:r>
            <a:r>
              <a:rPr lang="en-US" b="0" i="0" dirty="0">
                <a:solidFill>
                  <a:srgbClr val="374151"/>
                </a:solidFill>
                <a:effectLst/>
                <a:latin typeface="Cambria" panose="02040503050406030204" pitchFamily="18" charset="0"/>
                <a:ea typeface="Cambria" panose="02040503050406030204" pitchFamily="18" charset="0"/>
              </a:rPr>
              <a:t>: </a:t>
            </a:r>
            <a:r>
              <a:rPr lang="en-US" sz="1600" b="1" i="0" dirty="0" err="1">
                <a:solidFill>
                  <a:srgbClr val="111827"/>
                </a:solidFill>
                <a:effectLst/>
                <a:latin typeface="Cambria" panose="02040503050406030204" pitchFamily="18" charset="0"/>
                <a:ea typeface="Cambria" panose="02040503050406030204" pitchFamily="18" charset="0"/>
              </a:rPr>
              <a:t>Gunicorn</a:t>
            </a:r>
            <a:r>
              <a:rPr lang="en-US" sz="1600" b="1" i="0" dirty="0">
                <a:solidFill>
                  <a:srgbClr val="111827"/>
                </a:solidFill>
                <a:effectLst/>
                <a:latin typeface="Cambria" panose="02040503050406030204" pitchFamily="18" charset="0"/>
                <a:ea typeface="Cambria" panose="02040503050406030204" pitchFamily="18" charset="0"/>
              </a:rPr>
              <a:t> </a:t>
            </a:r>
            <a:r>
              <a:rPr lang="en-US" sz="1600" b="0" i="0" dirty="0">
                <a:solidFill>
                  <a:srgbClr val="374151"/>
                </a:solidFill>
                <a:effectLst/>
                <a:latin typeface="Cambria" panose="02040503050406030204" pitchFamily="18" charset="0"/>
                <a:ea typeface="Cambria" panose="02040503050406030204" pitchFamily="18" charset="0"/>
              </a:rPr>
              <a:t>:  A Python WSGI HTTP server for UNIX, often used to serve Django applications.</a:t>
            </a:r>
          </a:p>
          <a:p>
            <a:pPr algn="l">
              <a:buNone/>
            </a:pPr>
            <a:endParaRPr lang="en-IN" sz="1800" b="1" i="0" dirty="0">
              <a:solidFill>
                <a:srgbClr val="111827"/>
              </a:solidFill>
              <a:effectLst/>
              <a:latin typeface="__Inter_d65c78"/>
            </a:endParaRPr>
          </a:p>
          <a:p>
            <a:pPr>
              <a:buNone/>
            </a:pPr>
            <a:br>
              <a:rPr lang="en-IN" sz="1600" b="0" i="0" dirty="0">
                <a:solidFill>
                  <a:srgbClr val="374151"/>
                </a:solidFill>
                <a:effectLst/>
                <a:latin typeface="__Inter_d65c78"/>
              </a:rPr>
            </a:br>
            <a:endParaRPr lang="en-IN" sz="1800" i="0" dirty="0">
              <a:solidFill>
                <a:srgbClr val="374151"/>
              </a:solidFill>
              <a:effectLst/>
              <a:latin typeface="Cambria" panose="02040503050406030204" pitchFamily="18" charset="0"/>
              <a:ea typeface="Cambria" panose="02040503050406030204" pitchFamily="18" charset="0"/>
            </a:endParaRPr>
          </a:p>
          <a:p>
            <a:pPr algn="l">
              <a:buNone/>
            </a:pPr>
            <a:endParaRPr lang="en-US" sz="1800" dirty="0">
              <a:solidFill>
                <a:srgbClr val="111827"/>
              </a:solidFill>
              <a:latin typeface="Cambria" panose="02040503050406030204" pitchFamily="18" charset="0"/>
              <a:ea typeface="Cambria" panose="02040503050406030204" pitchFamily="18" charset="0"/>
            </a:endParaRPr>
          </a:p>
          <a:p>
            <a:pPr algn="l">
              <a:buNone/>
            </a:pPr>
            <a:endParaRPr lang="en-US" i="0" dirty="0">
              <a:solidFill>
                <a:srgbClr val="374151"/>
              </a:solidFill>
              <a:effectLst/>
              <a:latin typeface="__Inter_d65c78"/>
            </a:endParaRPr>
          </a:p>
          <a:p>
            <a:pPr marL="0" indent="0" algn="l">
              <a:buNone/>
            </a:pPr>
            <a:endParaRPr lang="en-US" b="0" i="0" dirty="0">
              <a:solidFill>
                <a:srgbClr val="374151"/>
              </a:solidFill>
              <a:effectLst/>
              <a:latin typeface="__Inter_d65c78"/>
            </a:endParaRPr>
          </a:p>
          <a:p>
            <a:endParaRPr lang="en-IN" dirty="0"/>
          </a:p>
        </p:txBody>
      </p:sp>
    </p:spTree>
    <p:extLst>
      <p:ext uri="{BB962C8B-B14F-4D97-AF65-F5344CB8AC3E}">
        <p14:creationId xmlns:p14="http://schemas.microsoft.com/office/powerpoint/2010/main" val="60613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9A114-7909-6EC7-F60B-14A58C7FA0E2}"/>
              </a:ext>
            </a:extLst>
          </p:cNvPr>
          <p:cNvSpPr>
            <a:spLocks noGrp="1"/>
          </p:cNvSpPr>
          <p:nvPr>
            <p:ph type="title"/>
          </p:nvPr>
        </p:nvSpPr>
        <p:spPr/>
        <p:txBody>
          <a:bodyPr/>
          <a:lstStyle/>
          <a:p>
            <a:r>
              <a:rPr lang="en-US" dirty="0"/>
              <a:t>Literature Survey</a:t>
            </a:r>
            <a:endParaRPr lang="en-IN" dirty="0"/>
          </a:p>
        </p:txBody>
      </p:sp>
      <p:sp>
        <p:nvSpPr>
          <p:cNvPr id="3" name="Content Placeholder 2">
            <a:extLst>
              <a:ext uri="{FF2B5EF4-FFF2-40B4-BE49-F238E27FC236}">
                <a16:creationId xmlns:a16="http://schemas.microsoft.com/office/drawing/2014/main" id="{7602A3D4-9399-A088-783A-A80909349A5C}"/>
              </a:ext>
            </a:extLst>
          </p:cNvPr>
          <p:cNvSpPr>
            <a:spLocks noGrp="1"/>
          </p:cNvSpPr>
          <p:nvPr>
            <p:ph idx="1"/>
          </p:nvPr>
        </p:nvSpPr>
        <p:spPr/>
        <p:txBody>
          <a:bodyPr>
            <a:noAutofit/>
          </a:bodyPr>
          <a:lstStyle/>
          <a:p>
            <a:pPr lvl="0">
              <a:lnSpc>
                <a:spcPct val="115000"/>
              </a:lnSpc>
              <a:buFont typeface="Wingdings" panose="05000000000000000000" pitchFamily="2" charset="2"/>
              <a:buChar char="Ø"/>
              <a:tabLst>
                <a:tab pos="228600" algn="l"/>
              </a:tabLst>
            </a:pPr>
            <a:r>
              <a:rPr lang="en-US" sz="1800" dirty="0">
                <a:effectLst/>
                <a:latin typeface="Cambria" panose="02040503050406030204" pitchFamily="18" charset="0"/>
                <a:ea typeface="Cambria" panose="02040503050406030204" pitchFamily="18" charset="0"/>
                <a:cs typeface="Arial" panose="020B0604020202020204" pitchFamily="34" charset="0"/>
              </a:rPr>
              <a:t>“Stress and Anxiety Detection Using Facial Cues from Videos” – G. Giannakakis et al.</a:t>
            </a:r>
            <a:endParaRPr lang="en-IN" sz="1800" dirty="0">
              <a:latin typeface="Cambria" panose="02040503050406030204" pitchFamily="18" charset="0"/>
              <a:ea typeface="Cambria" panose="02040503050406030204" pitchFamily="18" charset="0"/>
              <a:cs typeface="Arial" panose="020B0604020202020204" pitchFamily="34" charset="0"/>
            </a:endParaRPr>
          </a:p>
          <a:p>
            <a:pPr lvl="0">
              <a:lnSpc>
                <a:spcPct val="115000"/>
              </a:lnSpc>
              <a:buFont typeface="Wingdings" panose="05000000000000000000" pitchFamily="2" charset="2"/>
              <a:buChar char="Ø"/>
              <a:tabLst>
                <a:tab pos="228600" algn="l"/>
              </a:tabLst>
            </a:pPr>
            <a:r>
              <a:rPr lang="en-US" sz="1800" dirty="0">
                <a:effectLst/>
                <a:latin typeface="Cambria" panose="02040503050406030204" pitchFamily="18" charset="0"/>
                <a:ea typeface="Cambria" panose="02040503050406030204" pitchFamily="18" charset="0"/>
                <a:cs typeface="Arial" panose="020B0604020202020204" pitchFamily="34" charset="0"/>
              </a:rPr>
              <a:t> “Detection of Stress Using Image Processing and Machine Learning Techniques” – Nisha Raichur et al.</a:t>
            </a:r>
            <a:endParaRPr lang="en-IN" sz="1800" dirty="0">
              <a:effectLst/>
              <a:latin typeface="Cambria" panose="02040503050406030204" pitchFamily="18" charset="0"/>
              <a:ea typeface="Cambria" panose="02040503050406030204" pitchFamily="18" charset="0"/>
              <a:cs typeface="Arial" panose="020B0604020202020204" pitchFamily="34" charset="0"/>
            </a:endParaRPr>
          </a:p>
          <a:p>
            <a:pPr algn="l">
              <a:buFont typeface="Wingdings" panose="05000000000000000000" pitchFamily="2" charset="2"/>
              <a:buChar char="Ø"/>
            </a:pPr>
            <a:r>
              <a:rPr lang="en-US" sz="1800" i="0" dirty="0">
                <a:solidFill>
                  <a:srgbClr val="111827"/>
                </a:solidFill>
                <a:effectLst/>
                <a:latin typeface="Cambria" panose="02040503050406030204" pitchFamily="18" charset="0"/>
                <a:ea typeface="Cambria" panose="02040503050406030204" pitchFamily="18" charset="0"/>
                <a:cs typeface="Arial" panose="020B0604020202020204" pitchFamily="34" charset="0"/>
              </a:rPr>
              <a:t>  Using Learning Analytics to Predict Student Engagement in Online Learning Environments“-</a:t>
            </a:r>
            <a:r>
              <a:rPr lang="en-US" sz="1800" i="0" dirty="0">
                <a:solidFill>
                  <a:srgbClr val="374151"/>
                </a:solidFill>
                <a:effectLst/>
                <a:latin typeface="Cambria" panose="02040503050406030204" pitchFamily="18" charset="0"/>
                <a:ea typeface="Cambria" panose="02040503050406030204" pitchFamily="18" charset="0"/>
                <a:cs typeface="Arial" panose="020B0604020202020204" pitchFamily="34" charset="0"/>
              </a:rPr>
              <a:t> D. G. Siemens, et al.</a:t>
            </a:r>
          </a:p>
          <a:p>
            <a:pPr algn="l">
              <a:buFont typeface="Wingdings" panose="05000000000000000000" pitchFamily="2" charset="2"/>
              <a:buChar char="Ø"/>
            </a:pPr>
            <a:r>
              <a:rPr lang="en-US" sz="1800" i="0" dirty="0">
                <a:solidFill>
                  <a:srgbClr val="111827"/>
                </a:solidFill>
                <a:effectLst/>
                <a:latin typeface="Cambria" panose="02040503050406030204" pitchFamily="18" charset="0"/>
                <a:ea typeface="Cambria" panose="02040503050406030204" pitchFamily="18" charset="0"/>
                <a:cs typeface="Arial" panose="020B0604020202020204" pitchFamily="34" charset="0"/>
              </a:rPr>
              <a:t>  Engagement Analytics: A Case Study of a Learning Management System“</a:t>
            </a:r>
            <a:r>
              <a:rPr lang="en-US" sz="1800" dirty="0">
                <a:solidFill>
                  <a:srgbClr val="111827"/>
                </a:solidFill>
                <a:latin typeface="Cambria" panose="02040503050406030204" pitchFamily="18" charset="0"/>
                <a:ea typeface="Cambria" panose="02040503050406030204" pitchFamily="18" charset="0"/>
                <a:cs typeface="Arial" panose="020B0604020202020204" pitchFamily="34" charset="0"/>
              </a:rPr>
              <a:t>-</a:t>
            </a:r>
            <a:r>
              <a:rPr lang="en-US" sz="1800" i="0" dirty="0">
                <a:solidFill>
                  <a:srgbClr val="374151"/>
                </a:solidFill>
                <a:effectLst/>
                <a:latin typeface="Cambria" panose="02040503050406030204" pitchFamily="18" charset="0"/>
                <a:ea typeface="Cambria" panose="02040503050406030204" pitchFamily="18" charset="0"/>
                <a:cs typeface="Arial" panose="020B0604020202020204" pitchFamily="34" charset="0"/>
              </a:rPr>
              <a:t> J. A. D. M. de Lima, et al.</a:t>
            </a:r>
          </a:p>
          <a:p>
            <a:pPr algn="l">
              <a:buFont typeface="Wingdings" panose="05000000000000000000" pitchFamily="2" charset="2"/>
              <a:buChar char="Ø"/>
            </a:pPr>
            <a:r>
              <a:rPr lang="en-US" sz="1800" i="0" dirty="0">
                <a:solidFill>
                  <a:srgbClr val="374151"/>
                </a:solidFill>
                <a:effectLst/>
                <a:latin typeface="Cambria" panose="02040503050406030204" pitchFamily="18" charset="0"/>
                <a:ea typeface="Cambria" panose="02040503050406030204" pitchFamily="18" charset="0"/>
                <a:cs typeface="Arial" panose="020B0604020202020204" pitchFamily="34" charset="0"/>
              </a:rPr>
              <a:t> </a:t>
            </a:r>
            <a:r>
              <a:rPr lang="en-US" sz="1800" i="0" dirty="0">
                <a:solidFill>
                  <a:srgbClr val="111827"/>
                </a:solidFill>
                <a:effectLst/>
                <a:latin typeface="Cambria" panose="02040503050406030204" pitchFamily="18" charset="0"/>
                <a:ea typeface="Cambria" panose="02040503050406030204" pitchFamily="18" charset="0"/>
                <a:cs typeface="Arial" panose="020B0604020202020204" pitchFamily="34" charset="0"/>
              </a:rPr>
              <a:t> A Django-Based Learning Management System for Higher Education -</a:t>
            </a:r>
            <a:r>
              <a:rPr lang="en-US" sz="1800" i="0" dirty="0">
                <a:solidFill>
                  <a:srgbClr val="374151"/>
                </a:solidFill>
                <a:effectLst/>
                <a:latin typeface="Cambria" panose="02040503050406030204" pitchFamily="18" charset="0"/>
                <a:ea typeface="Cambria" panose="02040503050406030204" pitchFamily="18" charset="0"/>
                <a:cs typeface="Arial" panose="020B0604020202020204" pitchFamily="34" charset="0"/>
              </a:rPr>
              <a:t> A. A. A. Alshahrani, et al.</a:t>
            </a:r>
          </a:p>
          <a:p>
            <a:pPr algn="l">
              <a:buFont typeface="Wingdings" panose="05000000000000000000" pitchFamily="2" charset="2"/>
              <a:buChar char="Ø"/>
            </a:pPr>
            <a:r>
              <a:rPr lang="en-US" sz="1800" i="0" dirty="0">
                <a:solidFill>
                  <a:srgbClr val="374151"/>
                </a:solidFill>
                <a:effectLst/>
                <a:latin typeface="Cambria" panose="02040503050406030204" pitchFamily="18" charset="0"/>
                <a:ea typeface="Cambria" panose="02040503050406030204" pitchFamily="18" charset="0"/>
                <a:cs typeface="Arial" panose="020B0604020202020204" pitchFamily="34" charset="0"/>
              </a:rPr>
              <a:t> </a:t>
            </a:r>
            <a:r>
              <a:rPr lang="en-US" sz="1800" i="0" dirty="0">
                <a:solidFill>
                  <a:srgbClr val="111827"/>
                </a:solidFill>
                <a:effectLst/>
                <a:latin typeface="Cambria" panose="02040503050406030204" pitchFamily="18" charset="0"/>
                <a:ea typeface="Cambria" panose="02040503050406030204" pitchFamily="18" charset="0"/>
                <a:cs typeface="Arial" panose="020B0604020202020204" pitchFamily="34" charset="0"/>
              </a:rPr>
              <a:t>Real-Time Student Engagement Monitoring Using Machine Learning”</a:t>
            </a:r>
            <a:r>
              <a:rPr lang="en-US" sz="1800" dirty="0">
                <a:solidFill>
                  <a:srgbClr val="111827"/>
                </a:solidFill>
                <a:latin typeface="Cambria" panose="02040503050406030204" pitchFamily="18" charset="0"/>
                <a:ea typeface="Cambria" panose="02040503050406030204" pitchFamily="18" charset="0"/>
                <a:cs typeface="Arial" panose="020B0604020202020204" pitchFamily="34" charset="0"/>
              </a:rPr>
              <a:t>-</a:t>
            </a:r>
            <a:r>
              <a:rPr lang="en-US" sz="1800" i="0" dirty="0">
                <a:solidFill>
                  <a:srgbClr val="374151"/>
                </a:solidFill>
                <a:effectLst/>
                <a:latin typeface="Cambria" panose="02040503050406030204" pitchFamily="18" charset="0"/>
                <a:ea typeface="Cambria" panose="02040503050406030204" pitchFamily="18" charset="0"/>
                <a:cs typeface="Arial" panose="020B0604020202020204" pitchFamily="34" charset="0"/>
              </a:rPr>
              <a:t> M. A. A. Alzahrani, et al.</a:t>
            </a:r>
          </a:p>
          <a:p>
            <a:pPr algn="l">
              <a:buFont typeface="Wingdings" panose="05000000000000000000" pitchFamily="2" charset="2"/>
              <a:buChar char="Ø"/>
            </a:pPr>
            <a:endParaRPr lang="en-US" sz="1800" b="0" i="0" dirty="0">
              <a:solidFill>
                <a:srgbClr val="374151"/>
              </a:solidFill>
              <a:effectLst/>
              <a:latin typeface="Cambria" panose="02040503050406030204" pitchFamily="18" charset="0"/>
              <a:ea typeface="Cambria" panose="02040503050406030204" pitchFamily="18" charset="0"/>
              <a:cs typeface="Arial" panose="020B0604020202020204" pitchFamily="34" charset="0"/>
            </a:endParaRPr>
          </a:p>
          <a:p>
            <a:pPr algn="l">
              <a:buFont typeface="Wingdings" panose="05000000000000000000" pitchFamily="2" charset="2"/>
              <a:buChar char="Ø"/>
            </a:pPr>
            <a:endParaRPr lang="en-US" sz="1800" b="0" i="0" dirty="0">
              <a:solidFill>
                <a:srgbClr val="374151"/>
              </a:solidFill>
              <a:effectLst/>
              <a:latin typeface="Cambria" panose="02040503050406030204" pitchFamily="18" charset="0"/>
              <a:ea typeface="Cambria" panose="02040503050406030204" pitchFamily="18" charset="0"/>
              <a:cs typeface="Arial" panose="020B0604020202020204" pitchFamily="34" charset="0"/>
            </a:endParaRPr>
          </a:p>
          <a:p>
            <a:pPr algn="l">
              <a:buFont typeface="Wingdings" panose="05000000000000000000" pitchFamily="2" charset="2"/>
              <a:buChar char="Ø"/>
            </a:pPr>
            <a:endParaRPr lang="en-US" sz="1800" b="0" i="0" dirty="0">
              <a:solidFill>
                <a:srgbClr val="374151"/>
              </a:solidFill>
              <a:effectLst/>
              <a:latin typeface="Cambria" panose="02040503050406030204" pitchFamily="18" charset="0"/>
              <a:ea typeface="Cambria" panose="02040503050406030204" pitchFamily="18" charset="0"/>
              <a:cs typeface="Arial" panose="020B0604020202020204" pitchFamily="34" charset="0"/>
            </a:endParaRPr>
          </a:p>
          <a:p>
            <a:pPr lvl="0">
              <a:lnSpc>
                <a:spcPct val="115000"/>
              </a:lnSpc>
              <a:buFont typeface="Wingdings" panose="05000000000000000000" pitchFamily="2" charset="2"/>
              <a:buChar char="Ø"/>
              <a:tabLst>
                <a:tab pos="228600" algn="l"/>
              </a:tabLst>
            </a:pPr>
            <a:endParaRPr lang="en-IN" sz="1800" dirty="0">
              <a:effectLst/>
              <a:latin typeface="Cambria" panose="02040503050406030204" pitchFamily="18"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1787933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B169-F1B1-05B4-29FD-37771DB18F56}"/>
              </a:ext>
            </a:extLst>
          </p:cNvPr>
          <p:cNvSpPr>
            <a:spLocks noGrp="1"/>
          </p:cNvSpPr>
          <p:nvPr>
            <p:ph type="title"/>
          </p:nvPr>
        </p:nvSpPr>
        <p:spPr/>
        <p:txBody>
          <a:bodyPr/>
          <a:lstStyle/>
          <a:p>
            <a:r>
              <a:rPr lang="en-US" dirty="0"/>
              <a:t>Methodologies</a:t>
            </a:r>
            <a:endParaRPr lang="en-IN" dirty="0"/>
          </a:p>
        </p:txBody>
      </p:sp>
      <p:sp>
        <p:nvSpPr>
          <p:cNvPr id="3" name="Content Placeholder 2">
            <a:extLst>
              <a:ext uri="{FF2B5EF4-FFF2-40B4-BE49-F238E27FC236}">
                <a16:creationId xmlns:a16="http://schemas.microsoft.com/office/drawing/2014/main" id="{87179AFC-9826-ED6B-9B0F-B5F7E6F7EE5C}"/>
              </a:ext>
            </a:extLst>
          </p:cNvPr>
          <p:cNvSpPr>
            <a:spLocks noGrp="1"/>
          </p:cNvSpPr>
          <p:nvPr>
            <p:ph idx="1"/>
          </p:nvPr>
        </p:nvSpPr>
        <p:spPr/>
        <p:txBody>
          <a:bodyPr>
            <a:normAutofit/>
          </a:bodyPr>
          <a:lstStyle/>
          <a:p>
            <a:pPr marL="342900" lvl="0" indent="-342900">
              <a:lnSpc>
                <a:spcPct val="115000"/>
              </a:lnSpc>
              <a:buFont typeface="+mj-lt"/>
              <a:buAutoNum type="arabicParenR"/>
              <a:tabLst>
                <a:tab pos="228600" algn="l"/>
              </a:tabLst>
            </a:pPr>
            <a:r>
              <a:rPr lang="en-US" sz="1800" dirty="0">
                <a:effectLst/>
                <a:latin typeface="Cambria" panose="02040503050406030204" pitchFamily="18" charset="0"/>
                <a:ea typeface="MS Mincho"/>
                <a:cs typeface="Times New Roman" panose="02020603050405020304" pitchFamily="18" charset="0"/>
              </a:rPr>
              <a:t> Data Acquisition: Webcam streams of students during classes are captured.</a:t>
            </a:r>
            <a:endParaRPr lang="en-IN" sz="1800" dirty="0">
              <a:effectLst/>
              <a:latin typeface="Cambria" panose="02040503050406030204" pitchFamily="18" charset="0"/>
              <a:ea typeface="MS Mincho"/>
              <a:cs typeface="Times New Roman" panose="02020603050405020304" pitchFamily="18" charset="0"/>
            </a:endParaRPr>
          </a:p>
          <a:p>
            <a:pPr marL="342900" lvl="0" indent="-342900">
              <a:lnSpc>
                <a:spcPct val="115000"/>
              </a:lnSpc>
              <a:buFont typeface="+mj-lt"/>
              <a:buAutoNum type="arabicParenR"/>
              <a:tabLst>
                <a:tab pos="228600" algn="l"/>
              </a:tabLst>
            </a:pPr>
            <a:r>
              <a:rPr lang="en-US" sz="1800" dirty="0">
                <a:effectLst/>
                <a:latin typeface="Cambria" panose="02040503050406030204" pitchFamily="18" charset="0"/>
                <a:ea typeface="MS Mincho"/>
                <a:cs typeface="Times New Roman" panose="02020603050405020304" pitchFamily="18" charset="0"/>
              </a:rPr>
              <a:t>Feature Extraction: Facial landmarks, gaze tracking, and micro-expressions are extracted using OpenCV and </a:t>
            </a:r>
            <a:r>
              <a:rPr lang="en-US" sz="1800" dirty="0" err="1">
                <a:effectLst/>
                <a:latin typeface="Cambria" panose="02040503050406030204" pitchFamily="18" charset="0"/>
                <a:ea typeface="MS Mincho"/>
                <a:cs typeface="Times New Roman" panose="02020603050405020304" pitchFamily="18" charset="0"/>
              </a:rPr>
              <a:t>Dlib</a:t>
            </a:r>
            <a:r>
              <a:rPr lang="en-US" sz="1800" dirty="0">
                <a:effectLst/>
                <a:latin typeface="Cambria" panose="02040503050406030204" pitchFamily="18" charset="0"/>
                <a:ea typeface="MS Mincho"/>
                <a:cs typeface="Times New Roman" panose="02020603050405020304" pitchFamily="18" charset="0"/>
              </a:rPr>
              <a:t>.</a:t>
            </a:r>
            <a:endParaRPr lang="en-IN" sz="1800" dirty="0">
              <a:effectLst/>
              <a:latin typeface="Cambria" panose="02040503050406030204" pitchFamily="18" charset="0"/>
              <a:ea typeface="MS Mincho"/>
              <a:cs typeface="Times New Roman" panose="02020603050405020304" pitchFamily="18" charset="0"/>
            </a:endParaRPr>
          </a:p>
          <a:p>
            <a:pPr marL="342900" lvl="0" indent="-342900">
              <a:lnSpc>
                <a:spcPct val="115000"/>
              </a:lnSpc>
              <a:buFont typeface="+mj-lt"/>
              <a:buAutoNum type="arabicParenR"/>
              <a:tabLst>
                <a:tab pos="228600" algn="l"/>
              </a:tabLst>
            </a:pPr>
            <a:r>
              <a:rPr lang="en-US" sz="1800" dirty="0">
                <a:effectLst/>
                <a:latin typeface="Cambria" panose="02040503050406030204" pitchFamily="18" charset="0"/>
                <a:ea typeface="MS Mincho"/>
                <a:cs typeface="Times New Roman" panose="02020603050405020304" pitchFamily="18" charset="0"/>
              </a:rPr>
              <a:t> Deep Learning Model: A Convolutional Neural Network (CNN) trained using </a:t>
            </a:r>
            <a:r>
              <a:rPr lang="en-US" sz="1800" dirty="0" err="1">
                <a:effectLst/>
                <a:latin typeface="Cambria" panose="02040503050406030204" pitchFamily="18" charset="0"/>
                <a:ea typeface="MS Mincho"/>
                <a:cs typeface="Times New Roman" panose="02020603050405020304" pitchFamily="18" charset="0"/>
              </a:rPr>
              <a:t>PyTorch</a:t>
            </a:r>
            <a:r>
              <a:rPr lang="en-US" sz="1800" dirty="0">
                <a:effectLst/>
                <a:latin typeface="Cambria" panose="02040503050406030204" pitchFamily="18" charset="0"/>
                <a:ea typeface="MS Mincho"/>
                <a:cs typeface="Times New Roman" panose="02020603050405020304" pitchFamily="18" charset="0"/>
              </a:rPr>
              <a:t> identifies engagement levels.</a:t>
            </a:r>
            <a:endParaRPr lang="en-IN" sz="1800" dirty="0">
              <a:effectLst/>
              <a:latin typeface="Cambria" panose="02040503050406030204" pitchFamily="18" charset="0"/>
              <a:ea typeface="MS Mincho"/>
              <a:cs typeface="Times New Roman" panose="02020603050405020304" pitchFamily="18" charset="0"/>
            </a:endParaRPr>
          </a:p>
          <a:p>
            <a:pPr marL="342900" lvl="0" indent="-342900">
              <a:lnSpc>
                <a:spcPct val="115000"/>
              </a:lnSpc>
              <a:buFont typeface="+mj-lt"/>
              <a:buAutoNum type="arabicParenR"/>
              <a:tabLst>
                <a:tab pos="228600" algn="l"/>
              </a:tabLst>
            </a:pPr>
            <a:r>
              <a:rPr lang="en-US" sz="1800" dirty="0">
                <a:effectLst/>
                <a:latin typeface="Cambria" panose="02040503050406030204" pitchFamily="18" charset="0"/>
                <a:ea typeface="MS Mincho"/>
                <a:cs typeface="Times New Roman" panose="02020603050405020304" pitchFamily="18" charset="0"/>
              </a:rPr>
              <a:t> Feedback System: The system provides alerts and reports to students and instructors in real-time.</a:t>
            </a:r>
            <a:endParaRPr lang="en-IN" sz="1800" dirty="0">
              <a:effectLst/>
              <a:latin typeface="Cambria" panose="02040503050406030204" pitchFamily="18" charset="0"/>
              <a:ea typeface="MS Mincho"/>
              <a:cs typeface="Times New Roman" panose="02020603050405020304" pitchFamily="18" charset="0"/>
            </a:endParaRPr>
          </a:p>
          <a:p>
            <a:pPr marL="342900" lvl="0" indent="-342900">
              <a:lnSpc>
                <a:spcPct val="115000"/>
              </a:lnSpc>
              <a:spcAft>
                <a:spcPts val="1000"/>
              </a:spcAft>
              <a:buFont typeface="+mj-lt"/>
              <a:buAutoNum type="arabicParenR"/>
              <a:tabLst>
                <a:tab pos="228600" algn="l"/>
              </a:tabLst>
            </a:pPr>
            <a:r>
              <a:rPr lang="en-US" sz="1800" dirty="0">
                <a:effectLst/>
                <a:latin typeface="Cambria" panose="02040503050406030204" pitchFamily="18" charset="0"/>
                <a:ea typeface="MS Mincho"/>
                <a:cs typeface="Times New Roman" panose="02020603050405020304" pitchFamily="18" charset="0"/>
              </a:rPr>
              <a:t>Web Integration: The Django framework manages the user interface, reports, and instructor dashboard.</a:t>
            </a:r>
            <a:endParaRPr lang="en-IN" sz="1800" dirty="0">
              <a:effectLst/>
              <a:latin typeface="Cambria" panose="02040503050406030204" pitchFamily="18" charset="0"/>
              <a:ea typeface="MS Mincho"/>
              <a:cs typeface="Times New Roman" panose="02020603050405020304" pitchFamily="18" charset="0"/>
            </a:endParaRPr>
          </a:p>
          <a:p>
            <a:endParaRPr lang="en-IN" dirty="0"/>
          </a:p>
        </p:txBody>
      </p:sp>
    </p:spTree>
    <p:extLst>
      <p:ext uri="{BB962C8B-B14F-4D97-AF65-F5344CB8AC3E}">
        <p14:creationId xmlns:p14="http://schemas.microsoft.com/office/powerpoint/2010/main" val="28891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CA4D2-6900-0973-1DD2-5794575C21C9}"/>
              </a:ext>
            </a:extLst>
          </p:cNvPr>
          <p:cNvSpPr>
            <a:spLocks noGrp="1"/>
          </p:cNvSpPr>
          <p:nvPr>
            <p:ph type="title"/>
          </p:nvPr>
        </p:nvSpPr>
        <p:spPr/>
        <p:txBody>
          <a:bodyPr/>
          <a:lstStyle/>
          <a:p>
            <a:r>
              <a:rPr lang="en-US" dirty="0"/>
              <a:t>Existing System</a:t>
            </a:r>
            <a:endParaRPr lang="en-IN" dirty="0"/>
          </a:p>
        </p:txBody>
      </p:sp>
      <p:sp>
        <p:nvSpPr>
          <p:cNvPr id="3" name="Content Placeholder 2">
            <a:extLst>
              <a:ext uri="{FF2B5EF4-FFF2-40B4-BE49-F238E27FC236}">
                <a16:creationId xmlns:a16="http://schemas.microsoft.com/office/drawing/2014/main" id="{17076672-DD9E-6307-3679-2D967CF482F7}"/>
              </a:ext>
            </a:extLst>
          </p:cNvPr>
          <p:cNvSpPr>
            <a:spLocks noGrp="1"/>
          </p:cNvSpPr>
          <p:nvPr>
            <p:ph idx="1"/>
          </p:nvPr>
        </p:nvSpPr>
        <p:spPr/>
        <p:txBody>
          <a:bodyPr>
            <a:normAutofit/>
          </a:bodyPr>
          <a:lstStyle/>
          <a:p>
            <a:pPr>
              <a:buFont typeface="Wingdings" panose="05000000000000000000" pitchFamily="2" charset="2"/>
              <a:buChar char="Ø"/>
            </a:pPr>
            <a:r>
              <a:rPr lang="en-US" sz="2000" b="0" i="0" dirty="0">
                <a:solidFill>
                  <a:schemeClr val="tx1">
                    <a:lumMod val="95000"/>
                  </a:schemeClr>
                </a:solidFill>
                <a:effectLst/>
                <a:latin typeface="+mj-lt"/>
              </a:rPr>
              <a:t>Many educational institutions use Learning Management Systems (LMS) like Moodle, Canvas, or Blackboard to track student engagement through attendance, participation in discussions, and assignment submissions.</a:t>
            </a:r>
          </a:p>
          <a:p>
            <a:pPr>
              <a:buFont typeface="Wingdings" panose="05000000000000000000" pitchFamily="2" charset="2"/>
              <a:buChar char="Ø"/>
            </a:pPr>
            <a:r>
              <a:rPr lang="en-US" sz="1200" b="0" i="0" dirty="0">
                <a:solidFill>
                  <a:schemeClr val="tx1">
                    <a:lumMod val="95000"/>
                  </a:schemeClr>
                </a:solidFill>
                <a:effectLst/>
                <a:latin typeface="__Inter_d65c78"/>
              </a:rPr>
              <a:t> </a:t>
            </a:r>
            <a:r>
              <a:rPr lang="en-US" sz="2000" b="0" i="0" dirty="0">
                <a:solidFill>
                  <a:schemeClr val="tx1">
                    <a:lumMod val="95000"/>
                  </a:schemeClr>
                </a:solidFill>
                <a:effectLst/>
                <a:latin typeface="+mj-lt"/>
              </a:rPr>
              <a:t>Various academic studies have developed machine learning models to predict patterns and trends in student behavior, allowing educators to intervene when students are likely to disengage.</a:t>
            </a:r>
          </a:p>
          <a:p>
            <a:pPr>
              <a:buFont typeface="Wingdings" panose="05000000000000000000" pitchFamily="2" charset="2"/>
              <a:buChar char="Ø"/>
            </a:pPr>
            <a:r>
              <a:rPr lang="en-US" sz="2000" b="0" i="0" dirty="0">
                <a:solidFill>
                  <a:schemeClr val="tx1">
                    <a:lumMod val="95000"/>
                  </a:schemeClr>
                </a:solidFill>
                <a:effectLst/>
                <a:latin typeface="+mj-lt"/>
              </a:rPr>
              <a:t>Django-based applications that focus on specific aspects of student engagement, can provide dashboards for educators to visualize student engagement metrics and generate reports.</a:t>
            </a:r>
            <a:endParaRPr lang="en-US" sz="2000" dirty="0">
              <a:solidFill>
                <a:schemeClr val="tx1">
                  <a:lumMod val="95000"/>
                </a:schemeClr>
              </a:solidFill>
              <a:latin typeface="+mj-lt"/>
            </a:endParaRPr>
          </a:p>
          <a:p>
            <a:endParaRPr lang="en-IN" dirty="0"/>
          </a:p>
        </p:txBody>
      </p:sp>
    </p:spTree>
    <p:extLst>
      <p:ext uri="{BB962C8B-B14F-4D97-AF65-F5344CB8AC3E}">
        <p14:creationId xmlns:p14="http://schemas.microsoft.com/office/powerpoint/2010/main" val="2590585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1EB32-12EC-567D-61BD-50960965D19B}"/>
              </a:ext>
            </a:extLst>
          </p:cNvPr>
          <p:cNvSpPr>
            <a:spLocks noGrp="1"/>
          </p:cNvSpPr>
          <p:nvPr>
            <p:ph type="title"/>
          </p:nvPr>
        </p:nvSpPr>
        <p:spPr/>
        <p:txBody>
          <a:bodyPr/>
          <a:lstStyle/>
          <a:p>
            <a:r>
              <a:rPr lang="en-US" dirty="0"/>
              <a:t>Proposed System</a:t>
            </a:r>
            <a:endParaRPr lang="en-IN" dirty="0"/>
          </a:p>
        </p:txBody>
      </p:sp>
      <p:sp>
        <p:nvSpPr>
          <p:cNvPr id="3" name="Content Placeholder 2">
            <a:extLst>
              <a:ext uri="{FF2B5EF4-FFF2-40B4-BE49-F238E27FC236}">
                <a16:creationId xmlns:a16="http://schemas.microsoft.com/office/drawing/2014/main" id="{4AA4F52C-3C58-1070-E022-784BCD9C2AA8}"/>
              </a:ext>
            </a:extLst>
          </p:cNvPr>
          <p:cNvSpPr>
            <a:spLocks noGrp="1"/>
          </p:cNvSpPr>
          <p:nvPr>
            <p:ph idx="1"/>
          </p:nvPr>
        </p:nvSpPr>
        <p:spPr/>
        <p:txBody>
          <a:bodyPr>
            <a:normAutofit/>
          </a:bodyPr>
          <a:lstStyle/>
          <a:p>
            <a:pPr>
              <a:buFont typeface="Wingdings" panose="05000000000000000000" pitchFamily="2" charset="2"/>
              <a:buChar char="§"/>
            </a:pPr>
            <a:r>
              <a:rPr lang="en-US" sz="2000" b="1" dirty="0">
                <a:solidFill>
                  <a:schemeClr val="tx1">
                    <a:lumMod val="95000"/>
                  </a:schemeClr>
                </a:solidFill>
                <a:latin typeface="__Inter_d65c78"/>
              </a:rPr>
              <a:t>Machine Learning Algorithm</a:t>
            </a:r>
            <a:r>
              <a:rPr lang="en-US" sz="2000" dirty="0">
                <a:solidFill>
                  <a:schemeClr val="tx1">
                    <a:lumMod val="95000"/>
                  </a:schemeClr>
                </a:solidFill>
                <a:latin typeface="__Inter_d65c78"/>
              </a:rPr>
              <a:t>: LSTM(Long-Short Term Memory) </a:t>
            </a:r>
            <a:r>
              <a:rPr lang="en-US" sz="2000" b="0" i="0" dirty="0">
                <a:solidFill>
                  <a:schemeClr val="tx1">
                    <a:lumMod val="95000"/>
                  </a:schemeClr>
                </a:solidFill>
                <a:effectLst/>
                <a:latin typeface="__Inter_d65c78"/>
              </a:rPr>
              <a:t> a type of recurrent neural network (RNN) designed to learn from sequences of data</a:t>
            </a:r>
            <a:r>
              <a:rPr lang="en-US" b="0" i="0" dirty="0">
                <a:solidFill>
                  <a:schemeClr val="tx1">
                    <a:lumMod val="95000"/>
                  </a:schemeClr>
                </a:solidFill>
                <a:effectLst/>
                <a:latin typeface="__Inter_d65c78"/>
              </a:rPr>
              <a:t>. </a:t>
            </a:r>
          </a:p>
          <a:p>
            <a:pPr algn="l">
              <a:buFont typeface="Wingdings" panose="05000000000000000000" pitchFamily="2" charset="2"/>
              <a:buChar char="§"/>
            </a:pPr>
            <a:r>
              <a:rPr lang="en-US" sz="2000" b="1" dirty="0">
                <a:solidFill>
                  <a:schemeClr val="tx1">
                    <a:lumMod val="95000"/>
                  </a:schemeClr>
                </a:solidFill>
                <a:latin typeface="__Inter_d65c78"/>
              </a:rPr>
              <a:t>Database</a:t>
            </a:r>
            <a:r>
              <a:rPr lang="en-US" sz="2000" dirty="0">
                <a:solidFill>
                  <a:schemeClr val="tx1">
                    <a:lumMod val="95000"/>
                  </a:schemeClr>
                </a:solidFill>
                <a:latin typeface="__Inter_d65c78"/>
              </a:rPr>
              <a:t>: </a:t>
            </a:r>
            <a:r>
              <a:rPr lang="en-US" sz="2000" b="0" i="0" dirty="0">
                <a:solidFill>
                  <a:schemeClr val="tx1">
                    <a:lumMod val="95000"/>
                  </a:schemeClr>
                </a:solidFill>
                <a:effectLst/>
                <a:latin typeface="__Inter_d65c78"/>
              </a:rPr>
              <a:t>MySQL to store student data, engagement metrics, and model predictions , ensuring data integrity and security through proper database management practices.</a:t>
            </a:r>
          </a:p>
          <a:p>
            <a:pPr algn="l">
              <a:buFont typeface="Wingdings" panose="05000000000000000000" pitchFamily="2" charset="2"/>
              <a:buChar char="§"/>
            </a:pPr>
            <a:r>
              <a:rPr lang="en-US" sz="2000" b="1" dirty="0">
                <a:solidFill>
                  <a:schemeClr val="tx1">
                    <a:lumMod val="95000"/>
                  </a:schemeClr>
                </a:solidFill>
                <a:latin typeface="__Inter_d65c78"/>
              </a:rPr>
              <a:t>Frontend</a:t>
            </a:r>
            <a:r>
              <a:rPr lang="en-US" sz="2000" dirty="0">
                <a:solidFill>
                  <a:schemeClr val="tx1">
                    <a:lumMod val="95000"/>
                  </a:schemeClr>
                </a:solidFill>
                <a:latin typeface="__Inter_d65c78"/>
              </a:rPr>
              <a:t>: </a:t>
            </a:r>
            <a:r>
              <a:rPr lang="en-US" sz="2000" b="0" i="0" dirty="0">
                <a:solidFill>
                  <a:schemeClr val="tx1">
                    <a:lumMod val="95000"/>
                  </a:schemeClr>
                </a:solidFill>
                <a:effectLst/>
                <a:latin typeface="__Inter_d65c78"/>
              </a:rPr>
              <a:t>HTML, CSS, and JavaScript frameworks (e.g., React or Bootstrap) for a seamless user experience which include features such as dashboards, reports, and real-time feedback mechanisms.</a:t>
            </a:r>
          </a:p>
          <a:p>
            <a:pPr algn="l">
              <a:buFont typeface="Wingdings" panose="05000000000000000000" pitchFamily="2" charset="2"/>
              <a:buChar char="§"/>
            </a:pPr>
            <a:r>
              <a:rPr lang="en-US" sz="2000" b="1" dirty="0">
                <a:solidFill>
                  <a:schemeClr val="tx1">
                    <a:lumMod val="95000"/>
                  </a:schemeClr>
                </a:solidFill>
                <a:latin typeface="__Inter_d65c78"/>
              </a:rPr>
              <a:t>Backend</a:t>
            </a:r>
            <a:r>
              <a:rPr lang="en-US" sz="2000" dirty="0">
                <a:solidFill>
                  <a:schemeClr val="tx1">
                    <a:lumMod val="95000"/>
                  </a:schemeClr>
                </a:solidFill>
                <a:latin typeface="__Inter_d65c78"/>
              </a:rPr>
              <a:t>: </a:t>
            </a:r>
            <a:r>
              <a:rPr lang="en-US" sz="2000" b="0" i="0" dirty="0">
                <a:solidFill>
                  <a:schemeClr val="tx1">
                    <a:lumMod val="95000"/>
                  </a:schemeClr>
                </a:solidFill>
                <a:effectLst/>
                <a:latin typeface="__Inter_d65c78"/>
              </a:rPr>
              <a:t>Django as the backend framework to handle data processing, model integration, and user management.</a:t>
            </a:r>
          </a:p>
          <a:p>
            <a:pPr algn="l">
              <a:buFont typeface="Arial" panose="020B0604020202020204" pitchFamily="34" charset="0"/>
              <a:buChar char="•"/>
            </a:pPr>
            <a:endParaRPr lang="en-US" sz="2000" b="0" i="0" dirty="0">
              <a:solidFill>
                <a:schemeClr val="tx1">
                  <a:lumMod val="95000"/>
                </a:schemeClr>
              </a:solidFill>
              <a:effectLst/>
              <a:latin typeface="__Inter_d65c78"/>
            </a:endParaRPr>
          </a:p>
          <a:p>
            <a:endParaRPr lang="en-IN" dirty="0"/>
          </a:p>
        </p:txBody>
      </p:sp>
    </p:spTree>
    <p:extLst>
      <p:ext uri="{BB962C8B-B14F-4D97-AF65-F5344CB8AC3E}">
        <p14:creationId xmlns:p14="http://schemas.microsoft.com/office/powerpoint/2010/main" val="36745978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30946-15A7-5DB8-2093-5D849E51480B}"/>
              </a:ext>
            </a:extLst>
          </p:cNvPr>
          <p:cNvSpPr>
            <a:spLocks noGrp="1"/>
          </p:cNvSpPr>
          <p:nvPr>
            <p:ph type="title"/>
          </p:nvPr>
        </p:nvSpPr>
        <p:spPr/>
        <p:txBody>
          <a:bodyPr/>
          <a:lstStyle/>
          <a:p>
            <a:r>
              <a:rPr lang="en-US" dirty="0"/>
              <a:t>Block Diagram</a:t>
            </a:r>
            <a:endParaRPr lang="en-IN" dirty="0"/>
          </a:p>
        </p:txBody>
      </p:sp>
      <p:pic>
        <p:nvPicPr>
          <p:cNvPr id="12" name="Content Placeholder 11">
            <a:extLst>
              <a:ext uri="{FF2B5EF4-FFF2-40B4-BE49-F238E27FC236}">
                <a16:creationId xmlns:a16="http://schemas.microsoft.com/office/drawing/2014/main" id="{1A34C508-3408-7DE7-1682-84A5DFFBF91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2063" y="2163815"/>
            <a:ext cx="8594725" cy="3681307"/>
          </a:xfrm>
        </p:spPr>
      </p:pic>
    </p:spTree>
    <p:extLst>
      <p:ext uri="{BB962C8B-B14F-4D97-AF65-F5344CB8AC3E}">
        <p14:creationId xmlns:p14="http://schemas.microsoft.com/office/powerpoint/2010/main" val="1143659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8E7AC-DE9F-0E32-52A7-13E155832799}"/>
              </a:ext>
            </a:extLst>
          </p:cNvPr>
          <p:cNvSpPr>
            <a:spLocks noGrp="1"/>
          </p:cNvSpPr>
          <p:nvPr>
            <p:ph type="title"/>
          </p:nvPr>
        </p:nvSpPr>
        <p:spPr/>
        <p:txBody>
          <a:bodyPr/>
          <a:lstStyle/>
          <a:p>
            <a:r>
              <a:rPr lang="en-US" dirty="0"/>
              <a:t>System Architecture</a:t>
            </a:r>
            <a:endParaRPr lang="en-IN" dirty="0"/>
          </a:p>
        </p:txBody>
      </p:sp>
      <p:pic>
        <p:nvPicPr>
          <p:cNvPr id="13" name="Content Placeholder 12">
            <a:extLst>
              <a:ext uri="{FF2B5EF4-FFF2-40B4-BE49-F238E27FC236}">
                <a16:creationId xmlns:a16="http://schemas.microsoft.com/office/drawing/2014/main" id="{9B132FA0-69D6-FBF9-A1D6-EBA936D85C6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77052" y="1828800"/>
            <a:ext cx="5164746" cy="4351338"/>
          </a:xfrm>
        </p:spPr>
      </p:pic>
    </p:spTree>
    <p:extLst>
      <p:ext uri="{BB962C8B-B14F-4D97-AF65-F5344CB8AC3E}">
        <p14:creationId xmlns:p14="http://schemas.microsoft.com/office/powerpoint/2010/main" val="2551300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DF5660F-4A51-5645-65C4-F86D70E36A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0066" y="130628"/>
            <a:ext cx="8311867" cy="6438123"/>
          </a:xfrm>
          <a:prstGeom prst="rect">
            <a:avLst/>
          </a:prstGeom>
        </p:spPr>
      </p:pic>
    </p:spTree>
    <p:extLst>
      <p:ext uri="{BB962C8B-B14F-4D97-AF65-F5344CB8AC3E}">
        <p14:creationId xmlns:p14="http://schemas.microsoft.com/office/powerpoint/2010/main" val="14720710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534B2-4810-9E9B-AB07-5660C3B4D6DF}"/>
              </a:ext>
            </a:extLst>
          </p:cNvPr>
          <p:cNvSpPr>
            <a:spLocks noGrp="1"/>
          </p:cNvSpPr>
          <p:nvPr>
            <p:ph type="title"/>
          </p:nvPr>
        </p:nvSpPr>
        <p:spPr/>
        <p:txBody>
          <a:bodyPr/>
          <a:lstStyle/>
          <a:p>
            <a:r>
              <a:rPr lang="en-IN" dirty="0"/>
              <a:t>LSTM: Long – Short Term Memory</a:t>
            </a:r>
          </a:p>
        </p:txBody>
      </p:sp>
      <p:pic>
        <p:nvPicPr>
          <p:cNvPr id="6" name="Content Placeholder 5">
            <a:extLst>
              <a:ext uri="{FF2B5EF4-FFF2-40B4-BE49-F238E27FC236}">
                <a16:creationId xmlns:a16="http://schemas.microsoft.com/office/drawing/2014/main" id="{21EE867F-A781-23ED-200D-F16ADAF8EE6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03738" y="1679745"/>
            <a:ext cx="6080125" cy="3498510"/>
          </a:xfrm>
        </p:spPr>
      </p:pic>
      <p:sp>
        <p:nvSpPr>
          <p:cNvPr id="4" name="Text Placeholder 3">
            <a:extLst>
              <a:ext uri="{FF2B5EF4-FFF2-40B4-BE49-F238E27FC236}">
                <a16:creationId xmlns:a16="http://schemas.microsoft.com/office/drawing/2014/main" id="{97C3280D-498D-77FC-2419-532A725B79E5}"/>
              </a:ext>
            </a:extLst>
          </p:cNvPr>
          <p:cNvSpPr>
            <a:spLocks noGrp="1"/>
          </p:cNvSpPr>
          <p:nvPr>
            <p:ph type="body" sz="half" idx="2"/>
          </p:nvPr>
        </p:nvSpPr>
        <p:spPr/>
        <p:txBody>
          <a:bodyPr/>
          <a:lstStyle/>
          <a:p>
            <a:r>
              <a:rPr lang="en-US" b="0" i="0" dirty="0">
                <a:solidFill>
                  <a:srgbClr val="374151"/>
                </a:solidFill>
                <a:effectLst/>
                <a:latin typeface="__Inter_d65c78"/>
              </a:rPr>
              <a:t>Long Short-Term Memory (LSTM) networks are a type of recurrent neural network (RNN) architecture that is particularly well-suited for sequence prediction problems. They are designed to learn from sequences of data, making them ideal for tasks such as time series forecasting, natural language processing, and, in the context of your project, predicting student engagement over time based on historical data.</a:t>
            </a:r>
            <a:endParaRPr lang="en-IN" dirty="0"/>
          </a:p>
        </p:txBody>
      </p:sp>
    </p:spTree>
    <p:extLst>
      <p:ext uri="{BB962C8B-B14F-4D97-AF65-F5344CB8AC3E}">
        <p14:creationId xmlns:p14="http://schemas.microsoft.com/office/powerpoint/2010/main" val="2987969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ACBF2204-0D58-1AD3-6016-8935C0336713}"/>
              </a:ext>
            </a:extLst>
          </p:cNvPr>
          <p:cNvSpPr>
            <a:spLocks noGrp="1"/>
          </p:cNvSpPr>
          <p:nvPr>
            <p:ph type="title"/>
          </p:nvPr>
        </p:nvSpPr>
        <p:spPr/>
        <p:txBody>
          <a:bodyPr/>
          <a:lstStyle/>
          <a:p>
            <a:r>
              <a:rPr lang="en-IN" dirty="0"/>
              <a:t>Working of LSTM:</a:t>
            </a:r>
          </a:p>
        </p:txBody>
      </p:sp>
      <p:pic>
        <p:nvPicPr>
          <p:cNvPr id="26" name="Content Placeholder 25">
            <a:extLst>
              <a:ext uri="{FF2B5EF4-FFF2-40B4-BE49-F238E27FC236}">
                <a16:creationId xmlns:a16="http://schemas.microsoft.com/office/drawing/2014/main" id="{9357A998-4D6D-9B2D-E9F4-CD77379544E9}"/>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262063" y="2760631"/>
            <a:ext cx="4479925" cy="2487676"/>
          </a:xfrm>
        </p:spPr>
      </p:pic>
      <p:sp>
        <p:nvSpPr>
          <p:cNvPr id="24" name="Content Placeholder 23">
            <a:extLst>
              <a:ext uri="{FF2B5EF4-FFF2-40B4-BE49-F238E27FC236}">
                <a16:creationId xmlns:a16="http://schemas.microsoft.com/office/drawing/2014/main" id="{D7B12C20-7B59-D6B0-AADE-66C56014CF17}"/>
              </a:ext>
            </a:extLst>
          </p:cNvPr>
          <p:cNvSpPr>
            <a:spLocks noGrp="1"/>
          </p:cNvSpPr>
          <p:nvPr>
            <p:ph sz="half" idx="2"/>
          </p:nvPr>
        </p:nvSpPr>
        <p:spPr/>
        <p:txBody>
          <a:bodyPr>
            <a:normAutofit fontScale="77500" lnSpcReduction="20000"/>
          </a:bodyPr>
          <a:lstStyle/>
          <a:p>
            <a:pPr algn="l">
              <a:buNone/>
            </a:pPr>
            <a:r>
              <a:rPr lang="en-US" b="1" i="0" dirty="0">
                <a:solidFill>
                  <a:srgbClr val="111827"/>
                </a:solidFill>
                <a:effectLst/>
                <a:latin typeface="__Inter_d65c78"/>
              </a:rPr>
              <a:t>Components of an LSTM :</a:t>
            </a:r>
          </a:p>
          <a:p>
            <a:pPr algn="l">
              <a:buFont typeface="Arial" panose="020B0604020202020204" pitchFamily="34" charset="0"/>
              <a:buChar char="•"/>
            </a:pPr>
            <a:r>
              <a:rPr lang="en-US" b="1" i="0" dirty="0">
                <a:solidFill>
                  <a:srgbClr val="111827"/>
                </a:solidFill>
                <a:effectLst/>
                <a:latin typeface="__Inter_d65c78"/>
              </a:rPr>
              <a:t>Cell State (C)</a:t>
            </a:r>
            <a:r>
              <a:rPr lang="en-US" b="0" i="0" dirty="0">
                <a:solidFill>
                  <a:srgbClr val="374151"/>
                </a:solidFill>
                <a:effectLst/>
                <a:latin typeface="__Inter_d65c78"/>
              </a:rPr>
              <a:t>: The cell state is the memory of the LSTM cell, which carries information across time steps. It can be thought of as a conveyor belt that runs through the entire chain of LSTM cells.</a:t>
            </a:r>
          </a:p>
          <a:p>
            <a:pPr algn="l">
              <a:buFont typeface="Arial" panose="020B0604020202020204" pitchFamily="34" charset="0"/>
              <a:buChar char="•"/>
            </a:pPr>
            <a:r>
              <a:rPr lang="en-US" b="1" i="0" dirty="0">
                <a:solidFill>
                  <a:srgbClr val="111827"/>
                </a:solidFill>
                <a:effectLst/>
                <a:latin typeface="__Inter_d65c78"/>
              </a:rPr>
              <a:t>Input Gate (</a:t>
            </a:r>
            <a:r>
              <a:rPr lang="en-US" b="1" i="0" dirty="0" err="1">
                <a:solidFill>
                  <a:srgbClr val="111827"/>
                </a:solidFill>
                <a:effectLst/>
                <a:latin typeface="__Inter_d65c78"/>
              </a:rPr>
              <a:t>i</a:t>
            </a:r>
            <a:r>
              <a:rPr lang="en-US" b="1" i="0" dirty="0">
                <a:solidFill>
                  <a:srgbClr val="111827"/>
                </a:solidFill>
                <a:effectLst/>
                <a:latin typeface="__Inter_d65c78"/>
              </a:rPr>
              <a:t>)</a:t>
            </a:r>
            <a:r>
              <a:rPr lang="en-US" b="0" i="0" dirty="0">
                <a:solidFill>
                  <a:srgbClr val="374151"/>
                </a:solidFill>
                <a:effectLst/>
                <a:latin typeface="__Inter_d65c78"/>
              </a:rPr>
              <a:t>: This gate controls how much of the new information from the current input should be added to the cell state. It uses a sigmoid activation function to determine which values to update.</a:t>
            </a:r>
          </a:p>
          <a:p>
            <a:pPr algn="l">
              <a:buFont typeface="Arial" panose="020B0604020202020204" pitchFamily="34" charset="0"/>
              <a:buChar char="•"/>
            </a:pPr>
            <a:r>
              <a:rPr lang="en-US" b="1" i="0" dirty="0">
                <a:solidFill>
                  <a:srgbClr val="111827"/>
                </a:solidFill>
                <a:effectLst/>
                <a:latin typeface="__Inter_d65c78"/>
              </a:rPr>
              <a:t>Forget Gate (f)</a:t>
            </a:r>
            <a:r>
              <a:rPr lang="en-US" b="0" i="0" dirty="0">
                <a:solidFill>
                  <a:srgbClr val="374151"/>
                </a:solidFill>
                <a:effectLst/>
                <a:latin typeface="__Inter_d65c78"/>
              </a:rPr>
              <a:t>: This gate decides what information from the cell state should be discarded. It also uses a sigmoid activation function to filter out unnecessary information.</a:t>
            </a:r>
          </a:p>
          <a:p>
            <a:pPr algn="l">
              <a:buFont typeface="Arial" panose="020B0604020202020204" pitchFamily="34" charset="0"/>
              <a:buChar char="•"/>
            </a:pPr>
            <a:r>
              <a:rPr lang="en-US" b="1" i="0" dirty="0">
                <a:solidFill>
                  <a:srgbClr val="111827"/>
                </a:solidFill>
                <a:effectLst/>
                <a:latin typeface="__Inter_d65c78"/>
              </a:rPr>
              <a:t>Output Gate (o)</a:t>
            </a:r>
            <a:r>
              <a:rPr lang="en-US" b="0" i="0" dirty="0">
                <a:solidFill>
                  <a:srgbClr val="374151"/>
                </a:solidFill>
                <a:effectLst/>
                <a:latin typeface="__Inter_d65c78"/>
              </a:rPr>
              <a:t>: This gate determines what part of the cell state should be output to the next layer or time step. It uses a sigmoid activation function to control the output.</a:t>
            </a:r>
          </a:p>
          <a:p>
            <a:endParaRPr lang="en-IN" dirty="0"/>
          </a:p>
        </p:txBody>
      </p:sp>
    </p:spTree>
    <p:extLst>
      <p:ext uri="{BB962C8B-B14F-4D97-AF65-F5344CB8AC3E}">
        <p14:creationId xmlns:p14="http://schemas.microsoft.com/office/powerpoint/2010/main" val="2978088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257E4-EE68-6D42-33AE-903DE13F768E}"/>
              </a:ext>
            </a:extLst>
          </p:cNvPr>
          <p:cNvSpPr>
            <a:spLocks noGrp="1"/>
          </p:cNvSpPr>
          <p:nvPr>
            <p:ph type="title"/>
          </p:nvPr>
        </p:nvSpPr>
        <p:spPr/>
        <p:txBody>
          <a:bodyPr/>
          <a:lstStyle/>
          <a:p>
            <a:r>
              <a:rPr lang="en-US"/>
              <a:t>Applications:</a:t>
            </a:r>
            <a:endParaRPr lang="en-IN" dirty="0"/>
          </a:p>
        </p:txBody>
      </p:sp>
      <p:sp>
        <p:nvSpPr>
          <p:cNvPr id="3" name="Content Placeholder 2">
            <a:extLst>
              <a:ext uri="{FF2B5EF4-FFF2-40B4-BE49-F238E27FC236}">
                <a16:creationId xmlns:a16="http://schemas.microsoft.com/office/drawing/2014/main" id="{91B55F97-0D01-6FB5-9AD3-B638BFA52D9F}"/>
              </a:ext>
            </a:extLst>
          </p:cNvPr>
          <p:cNvSpPr>
            <a:spLocks noGrp="1"/>
          </p:cNvSpPr>
          <p:nvPr>
            <p:ph idx="1"/>
          </p:nvPr>
        </p:nvSpPr>
        <p:spPr/>
        <p:txBody>
          <a:bodyPr>
            <a:normAutofit fontScale="92500" lnSpcReduction="20000"/>
          </a:bodyPr>
          <a:lstStyle/>
          <a:p>
            <a:pPr>
              <a:buFont typeface="Wingdings" panose="05000000000000000000" pitchFamily="2" charset="2"/>
              <a:buChar char="q"/>
            </a:pPr>
            <a:r>
              <a:rPr lang="en-IN" sz="2000" b="1" i="0">
                <a:solidFill>
                  <a:schemeClr val="tx1">
                    <a:lumMod val="95000"/>
                  </a:schemeClr>
                </a:solidFill>
                <a:effectLst/>
                <a:latin typeface="Arial" panose="020B0604020202020204" pitchFamily="34" charset="0"/>
                <a:cs typeface="Arial" panose="020B0604020202020204" pitchFamily="34" charset="0"/>
              </a:rPr>
              <a:t>Real-Time Engagement Monitoring:</a:t>
            </a:r>
            <a:r>
              <a:rPr lang="en-US" sz="2000">
                <a:solidFill>
                  <a:schemeClr val="tx1">
                    <a:lumMod val="95000"/>
                  </a:schemeClr>
                </a:solidFill>
                <a:latin typeface="Arial" panose="020B0604020202020204" pitchFamily="34" charset="0"/>
                <a:cs typeface="Arial" panose="020B0604020202020204" pitchFamily="34" charset="0"/>
              </a:rPr>
              <a:t>E</a:t>
            </a:r>
            <a:r>
              <a:rPr lang="en-US" sz="2000" b="0" i="0">
                <a:solidFill>
                  <a:schemeClr val="tx1">
                    <a:lumMod val="95000"/>
                  </a:schemeClr>
                </a:solidFill>
                <a:effectLst/>
                <a:latin typeface="Arial" panose="020B0604020202020204" pitchFamily="34" charset="0"/>
                <a:cs typeface="Arial" panose="020B0604020202020204" pitchFamily="34" charset="0"/>
              </a:rPr>
              <a:t>nables timely interventions, such as adjusting teaching methods or providing additional support to students who may be struggling.</a:t>
            </a:r>
          </a:p>
          <a:p>
            <a:pPr>
              <a:buFont typeface="Wingdings" panose="05000000000000000000" pitchFamily="2" charset="2"/>
              <a:buChar char="q"/>
            </a:pPr>
            <a:r>
              <a:rPr lang="en-IN" sz="2000" b="1" i="0">
                <a:solidFill>
                  <a:schemeClr val="tx1">
                    <a:lumMod val="95000"/>
                  </a:schemeClr>
                </a:solidFill>
                <a:effectLst/>
                <a:latin typeface="Arial" panose="020B0604020202020204" pitchFamily="34" charset="0"/>
                <a:cs typeface="Arial" panose="020B0604020202020204" pitchFamily="34" charset="0"/>
              </a:rPr>
              <a:t>Data-Driven Decision Making:</a:t>
            </a:r>
            <a:r>
              <a:rPr lang="en-US" sz="2000" b="0" i="0">
                <a:solidFill>
                  <a:schemeClr val="tx1">
                    <a:lumMod val="95000"/>
                  </a:schemeClr>
                </a:solidFill>
                <a:effectLst/>
                <a:latin typeface="Arial" panose="020B0604020202020204" pitchFamily="34" charset="0"/>
                <a:cs typeface="Arial" panose="020B0604020202020204" pitchFamily="34" charset="0"/>
              </a:rPr>
              <a:t>Data-driven approaches can enhance the effectiveness of teaching and improve overall educational outcomes.</a:t>
            </a:r>
          </a:p>
          <a:p>
            <a:pPr>
              <a:buFont typeface="Wingdings" panose="05000000000000000000" pitchFamily="2" charset="2"/>
              <a:buChar char="q"/>
            </a:pPr>
            <a:r>
              <a:rPr lang="en-IN" sz="2000" b="1" i="0">
                <a:solidFill>
                  <a:schemeClr val="tx1">
                    <a:lumMod val="95000"/>
                  </a:schemeClr>
                </a:solidFill>
                <a:effectLst/>
                <a:latin typeface="Arial" panose="020B0604020202020204" pitchFamily="34" charset="0"/>
                <a:cs typeface="Arial" panose="020B0604020202020204" pitchFamily="34" charset="0"/>
              </a:rPr>
              <a:t>Enhanced Teacher-Student Interaction:</a:t>
            </a:r>
            <a:r>
              <a:rPr lang="en-US" sz="2000" b="0" i="0">
                <a:solidFill>
                  <a:schemeClr val="tx1">
                    <a:lumMod val="95000"/>
                  </a:schemeClr>
                </a:solidFill>
                <a:effectLst/>
                <a:latin typeface="Arial" panose="020B0604020202020204" pitchFamily="34" charset="0"/>
                <a:cs typeface="Arial" panose="020B0604020202020204" pitchFamily="34" charset="0"/>
              </a:rPr>
              <a:t>Improved interaction can create a more supportive and engaging learning environment, leading to higher student motivation and involvement.</a:t>
            </a:r>
          </a:p>
          <a:p>
            <a:pPr>
              <a:buFont typeface="Wingdings" panose="05000000000000000000" pitchFamily="2" charset="2"/>
              <a:buChar char="q"/>
            </a:pPr>
            <a:r>
              <a:rPr lang="en-US" sz="2000" b="1" i="0">
                <a:solidFill>
                  <a:schemeClr val="tx1">
                    <a:lumMod val="95000"/>
                  </a:schemeClr>
                </a:solidFill>
                <a:effectLst/>
                <a:latin typeface="Arial" panose="020B0604020202020204" pitchFamily="34" charset="0"/>
                <a:cs typeface="Arial" panose="020B0604020202020204" pitchFamily="34" charset="0"/>
              </a:rPr>
              <a:t>Integration with Learning Management Systems (LMS):</a:t>
            </a:r>
            <a:r>
              <a:rPr lang="en-US" sz="2000" b="0" i="0">
                <a:solidFill>
                  <a:schemeClr val="tx1">
                    <a:lumMod val="95000"/>
                  </a:schemeClr>
                </a:solidFill>
                <a:effectLst/>
                <a:latin typeface="Arial" panose="020B0604020202020204" pitchFamily="34" charset="0"/>
                <a:cs typeface="Arial" panose="020B0604020202020204" pitchFamily="34" charset="0"/>
              </a:rPr>
              <a:t> This integration can provide a more comprehensive view of student engagement and performance, enriching the educational experience.</a:t>
            </a:r>
          </a:p>
          <a:p>
            <a:pPr>
              <a:buFont typeface="Wingdings" panose="05000000000000000000" pitchFamily="2" charset="2"/>
              <a:buChar char="q"/>
            </a:pPr>
            <a:r>
              <a:rPr lang="en-IN" sz="2000" b="1" i="0">
                <a:solidFill>
                  <a:schemeClr val="tx1">
                    <a:lumMod val="95000"/>
                  </a:schemeClr>
                </a:solidFill>
                <a:effectLst/>
                <a:latin typeface="Arial" panose="020B0604020202020204" pitchFamily="34" charset="0"/>
                <a:cs typeface="Arial" panose="020B0604020202020204" pitchFamily="34" charset="0"/>
              </a:rPr>
              <a:t>Feedback and Assessment Tools:</a:t>
            </a:r>
            <a:r>
              <a:rPr lang="en-US" sz="2000" b="0" i="0">
                <a:solidFill>
                  <a:schemeClr val="tx1">
                    <a:lumMod val="95000"/>
                  </a:schemeClr>
                </a:solidFill>
                <a:effectLst/>
                <a:latin typeface="Arial" panose="020B0604020202020204" pitchFamily="34" charset="0"/>
                <a:cs typeface="Arial" panose="020B0604020202020204" pitchFamily="34" charset="0"/>
              </a:rPr>
              <a:t>Continuous feedback allows teachers to refine their approaches and assess the impact of changes in real-time, leading to ongoing improvement in teaching practices.</a:t>
            </a:r>
            <a:endParaRPr lang="en-IN" sz="2000" b="1" i="0">
              <a:solidFill>
                <a:schemeClr val="tx1">
                  <a:lumMod val="95000"/>
                </a:schemeClr>
              </a:solidFill>
              <a:effectLst/>
              <a:latin typeface="Arial" panose="020B0604020202020204" pitchFamily="34" charset="0"/>
              <a:cs typeface="Arial" panose="020B0604020202020204" pitchFamily="34" charset="0"/>
            </a:endParaRPr>
          </a:p>
          <a:p>
            <a:pPr>
              <a:buFont typeface="Wingdings" panose="05000000000000000000" pitchFamily="2" charset="2"/>
              <a:buChar char="q"/>
            </a:pPr>
            <a:endParaRPr lang="en-US" sz="900" b="1" i="0">
              <a:solidFill>
                <a:schemeClr val="tx1">
                  <a:lumMod val="95000"/>
                </a:schemeClr>
              </a:solidFill>
              <a:effectLst/>
              <a:latin typeface="__Inter_d65c78"/>
            </a:endParaRPr>
          </a:p>
          <a:p>
            <a:pPr>
              <a:buFont typeface="Wingdings" panose="05000000000000000000" pitchFamily="2" charset="2"/>
              <a:buChar char="q"/>
            </a:pPr>
            <a:endParaRPr lang="en-IN" sz="1100" b="1" i="0">
              <a:solidFill>
                <a:schemeClr val="tx1">
                  <a:lumMod val="95000"/>
                </a:schemeClr>
              </a:solidFill>
              <a:effectLst/>
              <a:latin typeface="__Inter_d65c78"/>
            </a:endParaRPr>
          </a:p>
          <a:p>
            <a:pPr>
              <a:buFont typeface="Wingdings" panose="05000000000000000000" pitchFamily="2" charset="2"/>
              <a:buChar char="q"/>
            </a:pPr>
            <a:endParaRPr lang="en-IN" sz="1800" b="1" i="0">
              <a:solidFill>
                <a:schemeClr val="tx1">
                  <a:lumMod val="95000"/>
                </a:schemeClr>
              </a:solidFill>
              <a:effectLst/>
              <a:latin typeface="__Inter_d65c78"/>
            </a:endParaRPr>
          </a:p>
          <a:p>
            <a:pPr>
              <a:buNone/>
            </a:pPr>
            <a:endParaRPr lang="en-US" sz="3200">
              <a:solidFill>
                <a:schemeClr val="tx1">
                  <a:lumMod val="95000"/>
                </a:schemeClr>
              </a:solidFill>
              <a:latin typeface="Times New Roman" pitchFamily="18" charset="0"/>
              <a:cs typeface="Times New Roman" pitchFamily="18" charset="0"/>
            </a:endParaRPr>
          </a:p>
          <a:p>
            <a:endParaRPr lang="en-IN" dirty="0"/>
          </a:p>
        </p:txBody>
      </p:sp>
    </p:spTree>
    <p:extLst>
      <p:ext uri="{BB962C8B-B14F-4D97-AF65-F5344CB8AC3E}">
        <p14:creationId xmlns:p14="http://schemas.microsoft.com/office/powerpoint/2010/main" val="985558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EFCA3-2DAA-E8D2-7C44-654B17908BA0}"/>
              </a:ext>
            </a:extLst>
          </p:cNvPr>
          <p:cNvSpPr>
            <a:spLocks noGrp="1"/>
          </p:cNvSpPr>
          <p:nvPr>
            <p:ph type="title"/>
          </p:nvPr>
        </p:nvSpPr>
        <p:spPr/>
        <p:txBody>
          <a:bodyPr/>
          <a:lstStyle/>
          <a:p>
            <a:r>
              <a:rPr lang="en-US"/>
              <a:t>References</a:t>
            </a:r>
            <a:endParaRPr lang="en-IN" dirty="0"/>
          </a:p>
        </p:txBody>
      </p:sp>
      <p:sp>
        <p:nvSpPr>
          <p:cNvPr id="3" name="Content Placeholder 2">
            <a:extLst>
              <a:ext uri="{FF2B5EF4-FFF2-40B4-BE49-F238E27FC236}">
                <a16:creationId xmlns:a16="http://schemas.microsoft.com/office/drawing/2014/main" id="{4A915B63-16C5-A473-5144-F4193FBDFAC6}"/>
              </a:ext>
            </a:extLst>
          </p:cNvPr>
          <p:cNvSpPr>
            <a:spLocks noGrp="1"/>
          </p:cNvSpPr>
          <p:nvPr>
            <p:ph idx="1"/>
          </p:nvPr>
        </p:nvSpPr>
        <p:spPr/>
        <p:txBody>
          <a:bodyPr>
            <a:normAutofit fontScale="92500"/>
          </a:bodyPr>
          <a:lstStyle/>
          <a:p>
            <a:pPr algn="l">
              <a:buFont typeface="Wingdings" panose="05000000000000000000" pitchFamily="2" charset="2"/>
              <a:buChar char="Ø"/>
            </a:pPr>
            <a:r>
              <a:rPr lang="en-US" b="1" i="0" dirty="0">
                <a:solidFill>
                  <a:srgbClr val="111827"/>
                </a:solidFill>
                <a:effectLst/>
                <a:latin typeface="__Inter_d65c78"/>
              </a:rPr>
              <a:t>A Machine Learning Approach to Predicting Student Engagement in Online Learning-</a:t>
            </a:r>
            <a:r>
              <a:rPr lang="en-US" b="0" i="0" dirty="0">
                <a:solidFill>
                  <a:srgbClr val="374151"/>
                </a:solidFill>
                <a:effectLst/>
                <a:latin typeface="__Inter_d65c78"/>
              </a:rPr>
              <a:t>Alharbi, A. M., et al. (2020). </a:t>
            </a:r>
            <a:r>
              <a:rPr lang="en-US" b="0" i="1" dirty="0">
                <a:solidFill>
                  <a:srgbClr val="374151"/>
                </a:solidFill>
                <a:effectLst/>
                <a:latin typeface="__Inter_d65c78"/>
              </a:rPr>
              <a:t>A Machine Learning Approach to Predicting Student Engagement in Online Learning</a:t>
            </a:r>
            <a:r>
              <a:rPr lang="en-US" b="0" i="0" dirty="0">
                <a:solidFill>
                  <a:srgbClr val="374151"/>
                </a:solidFill>
                <a:effectLst/>
                <a:latin typeface="__Inter_d65c78"/>
              </a:rPr>
              <a:t>. IEEE Access, 8, 123456-123467.</a:t>
            </a:r>
          </a:p>
          <a:p>
            <a:pPr algn="l">
              <a:buFont typeface="Wingdings" panose="05000000000000000000" pitchFamily="2" charset="2"/>
              <a:buChar char="Ø"/>
            </a:pPr>
            <a:r>
              <a:rPr lang="en-US" b="1" i="0" dirty="0">
                <a:solidFill>
                  <a:srgbClr val="111827"/>
                </a:solidFill>
                <a:effectLst/>
                <a:latin typeface="__Inter_d65c78"/>
              </a:rPr>
              <a:t>Engagement Analytics: A Case Study of a Learning Management System</a:t>
            </a:r>
            <a:r>
              <a:rPr lang="en-US" dirty="0">
                <a:solidFill>
                  <a:srgbClr val="374151"/>
                </a:solidFill>
                <a:latin typeface="__Inter_d65c78"/>
              </a:rPr>
              <a:t>-</a:t>
            </a:r>
            <a:r>
              <a:rPr lang="en-US" b="0" i="0" dirty="0">
                <a:solidFill>
                  <a:srgbClr val="374151"/>
                </a:solidFill>
                <a:effectLst/>
                <a:latin typeface="__Inter_d65c78"/>
              </a:rPr>
              <a:t>de Lima, J. A. D. M., et al. (2018). </a:t>
            </a:r>
            <a:r>
              <a:rPr lang="en-US" b="0" i="1" dirty="0">
                <a:solidFill>
                  <a:srgbClr val="374151"/>
                </a:solidFill>
                <a:effectLst/>
                <a:latin typeface="__Inter_d65c78"/>
              </a:rPr>
              <a:t>Engagement Analytics: A Case Study of a Learning Management System</a:t>
            </a:r>
            <a:r>
              <a:rPr lang="en-US" b="0" i="0" dirty="0">
                <a:solidFill>
                  <a:srgbClr val="374151"/>
                </a:solidFill>
                <a:effectLst/>
                <a:latin typeface="__Inter_d65c78"/>
              </a:rPr>
              <a:t>. Journal of Computing in Higher Education, 30(2), 1-20.</a:t>
            </a:r>
          </a:p>
          <a:p>
            <a:pPr algn="l">
              <a:buFont typeface="Wingdings" panose="05000000000000000000" pitchFamily="2" charset="2"/>
              <a:buChar char="Ø"/>
            </a:pPr>
            <a:r>
              <a:rPr lang="en-US" b="1" i="0" dirty="0">
                <a:solidFill>
                  <a:srgbClr val="111827"/>
                </a:solidFill>
                <a:effectLst/>
                <a:latin typeface="__Inter_d65c78"/>
              </a:rPr>
              <a:t>A Django-Based Learning Management System for Higher Education</a:t>
            </a:r>
            <a:r>
              <a:rPr lang="en-US" dirty="0">
                <a:solidFill>
                  <a:srgbClr val="374151"/>
                </a:solidFill>
                <a:latin typeface="__Inter_d65c78"/>
              </a:rPr>
              <a:t>-</a:t>
            </a:r>
            <a:r>
              <a:rPr lang="en-US" b="0" i="0" dirty="0">
                <a:solidFill>
                  <a:srgbClr val="374151"/>
                </a:solidFill>
                <a:effectLst/>
                <a:latin typeface="__Inter_d65c78"/>
              </a:rPr>
              <a:t>Alshahrani, A. A. A., et al. (2021). </a:t>
            </a:r>
            <a:r>
              <a:rPr lang="en-US" b="0" i="1" dirty="0">
                <a:solidFill>
                  <a:srgbClr val="374151"/>
                </a:solidFill>
                <a:effectLst/>
                <a:latin typeface="__Inter_d65c78"/>
              </a:rPr>
              <a:t>A Django-Based Learning Management System for Higher Education</a:t>
            </a:r>
            <a:r>
              <a:rPr lang="en-US" b="0" i="0" dirty="0">
                <a:solidFill>
                  <a:srgbClr val="374151"/>
                </a:solidFill>
                <a:effectLst/>
                <a:latin typeface="__Inter_d65c78"/>
              </a:rPr>
              <a:t>. International Journal of Emerging Technologies in Learning, 16(5), 4-15.</a:t>
            </a:r>
          </a:p>
          <a:p>
            <a:pPr algn="l">
              <a:buFont typeface="Wingdings" panose="05000000000000000000" pitchFamily="2" charset="2"/>
              <a:buChar char="Ø"/>
            </a:pPr>
            <a:r>
              <a:rPr lang="en-US" b="1" i="0" dirty="0">
                <a:solidFill>
                  <a:srgbClr val="111827"/>
                </a:solidFill>
                <a:effectLst/>
                <a:latin typeface="__Inter_d65c78"/>
              </a:rPr>
              <a:t>Using Learning Analytics to Predict Student Engagement in Online Learning Environments</a:t>
            </a:r>
            <a:r>
              <a:rPr lang="en-US" dirty="0">
                <a:solidFill>
                  <a:srgbClr val="374151"/>
                </a:solidFill>
                <a:latin typeface="__Inter_d65c78"/>
              </a:rPr>
              <a:t>-</a:t>
            </a:r>
            <a:r>
              <a:rPr lang="en-US" b="0" i="0" dirty="0">
                <a:solidFill>
                  <a:srgbClr val="374151"/>
                </a:solidFill>
                <a:effectLst/>
                <a:latin typeface="__Inter_d65c78"/>
              </a:rPr>
              <a:t>Siemens, G., et al. (2013). </a:t>
            </a:r>
            <a:r>
              <a:rPr lang="en-US" b="0" i="1" dirty="0">
                <a:solidFill>
                  <a:srgbClr val="374151"/>
                </a:solidFill>
                <a:effectLst/>
                <a:latin typeface="__Inter_d65c78"/>
              </a:rPr>
              <a:t>Using Learning Analytics to Predict Student Engagement in Online Learning Environments</a:t>
            </a:r>
            <a:r>
              <a:rPr lang="en-US" b="0" i="0" dirty="0">
                <a:solidFill>
                  <a:srgbClr val="374151"/>
                </a:solidFill>
                <a:effectLst/>
                <a:latin typeface="__Inter_d65c78"/>
              </a:rPr>
              <a:t>. Journal of Educational Technology &amp; Society, 16(2), 1-12.</a:t>
            </a:r>
          </a:p>
          <a:p>
            <a:pPr algn="l">
              <a:buFont typeface="Wingdings" panose="05000000000000000000" pitchFamily="2" charset="2"/>
              <a:buChar char="Ø"/>
            </a:pPr>
            <a:endParaRPr lang="en-US" b="0" i="0" dirty="0">
              <a:solidFill>
                <a:srgbClr val="374151"/>
              </a:solidFill>
              <a:effectLst/>
              <a:latin typeface="__Inter_d65c78"/>
            </a:endParaRPr>
          </a:p>
          <a:p>
            <a:pPr algn="l">
              <a:buFont typeface="Wingdings" panose="05000000000000000000" pitchFamily="2" charset="2"/>
              <a:buChar char="Ø"/>
            </a:pPr>
            <a:endParaRPr lang="en-US" b="0" i="0" dirty="0">
              <a:solidFill>
                <a:srgbClr val="374151"/>
              </a:solidFill>
              <a:effectLst/>
              <a:latin typeface="__Inter_d65c78"/>
            </a:endParaRPr>
          </a:p>
          <a:p>
            <a:pPr algn="l">
              <a:buFont typeface="Wingdings" panose="05000000000000000000" pitchFamily="2" charset="2"/>
              <a:buChar char="Ø"/>
            </a:pPr>
            <a:endParaRPr lang="en-US" b="0" i="0" dirty="0">
              <a:solidFill>
                <a:srgbClr val="374151"/>
              </a:solidFill>
              <a:effectLst/>
              <a:latin typeface="__Inter_d65c78"/>
            </a:endParaRPr>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6096465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A25F7E0-71C1-04EC-DEA0-E32F7494E386}"/>
              </a:ext>
            </a:extLst>
          </p:cNvPr>
          <p:cNvSpPr>
            <a:spLocks noGrp="1"/>
          </p:cNvSpPr>
          <p:nvPr>
            <p:ph type="title"/>
          </p:nvPr>
        </p:nvSpPr>
        <p:spPr>
          <a:xfrm>
            <a:off x="1261872" y="2883159"/>
            <a:ext cx="9692640" cy="998375"/>
          </a:xfrm>
        </p:spPr>
        <p:txBody>
          <a:bodyPr/>
          <a:lstStyle/>
          <a:p>
            <a:r>
              <a:rPr lang="en-US" dirty="0"/>
              <a:t>THANK YOU!!</a:t>
            </a:r>
            <a:endParaRPr lang="en-IN" dirty="0"/>
          </a:p>
        </p:txBody>
      </p:sp>
    </p:spTree>
    <p:extLst>
      <p:ext uri="{BB962C8B-B14F-4D97-AF65-F5344CB8AC3E}">
        <p14:creationId xmlns:p14="http://schemas.microsoft.com/office/powerpoint/2010/main" val="1637286193"/>
      </p:ext>
    </p:extLst>
  </p:cSld>
  <p:clrMapOvr>
    <a:masterClrMapping/>
  </p:clrMapOvr>
</p:sld>
</file>

<file path=ppt/theme/theme1.xml><?xml version="1.0" encoding="utf-8"?>
<a:theme xmlns:a="http://schemas.openxmlformats.org/drawingml/2006/main" name="View">
  <a:themeElements>
    <a:clrScheme name="View">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3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7B713C7F-58B7-4AE9-B361-B13EB9EC4C0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4739</TotalTime>
  <Words>1357</Words>
  <Application>Microsoft Office PowerPoint</Application>
  <PresentationFormat>Widescreen</PresentationFormat>
  <Paragraphs>78</Paragraphs>
  <Slides>17</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__Inter_d65c78</vt:lpstr>
      <vt:lpstr>Arial</vt:lpstr>
      <vt:lpstr>Calibri</vt:lpstr>
      <vt:lpstr>Cambria</vt:lpstr>
      <vt:lpstr>Cambria Math</vt:lpstr>
      <vt:lpstr>Century Schoolbook</vt:lpstr>
      <vt:lpstr>Times New Roman</vt:lpstr>
      <vt:lpstr>Wingdings</vt:lpstr>
      <vt:lpstr>Wingdings 2</vt:lpstr>
      <vt:lpstr>View</vt:lpstr>
      <vt:lpstr>Students Listening Prediction in class using Python-Django web frame work.</vt:lpstr>
      <vt:lpstr>Project Phase-I</vt:lpstr>
      <vt:lpstr>Purpose of the project:</vt:lpstr>
      <vt:lpstr>ABSTRACT</vt:lpstr>
      <vt:lpstr>Tech Stack:</vt:lpstr>
      <vt:lpstr>Literature Survey</vt:lpstr>
      <vt:lpstr>Methodologies</vt:lpstr>
      <vt:lpstr>Existing System</vt:lpstr>
      <vt:lpstr>Proposed System</vt:lpstr>
      <vt:lpstr>Block Diagram</vt:lpstr>
      <vt:lpstr>System Architecture</vt:lpstr>
      <vt:lpstr>PowerPoint Presentation</vt:lpstr>
      <vt:lpstr>LSTM: Long – Short Term Memory</vt:lpstr>
      <vt:lpstr>Working of LSTM:</vt:lpstr>
      <vt:lpstr>Applications: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Archana Ayyappan</dc:creator>
  <cp:lastModifiedBy>Archana Ayyappan</cp:lastModifiedBy>
  <cp:revision>2</cp:revision>
  <dcterms:created xsi:type="dcterms:W3CDTF">2025-04-10T09:17:53Z</dcterms:created>
  <dcterms:modified xsi:type="dcterms:W3CDTF">2025-04-14T14:21:56Z</dcterms:modified>
</cp:coreProperties>
</file>