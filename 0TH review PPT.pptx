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64" r:id="rId4"/>
    <p:sldId id="283" r:id="rId5"/>
    <p:sldId id="285" r:id="rId6"/>
    <p:sldId id="323" r:id="rId7"/>
    <p:sldId id="324" r:id="rId8"/>
    <p:sldId id="325" r:id="rId9"/>
    <p:sldId id="326" r:id="rId10"/>
    <p:sldId id="286" r:id="rId11"/>
    <p:sldId id="289" r:id="rId12"/>
    <p:sldId id="327" r:id="rId13"/>
    <p:sldId id="270" r:id="rId14"/>
    <p:sldId id="275"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3192B46B-C9C8-49D7-8F2B-9D17BCF5F34F}">
          <p14:sldIdLst>
            <p14:sldId id="256"/>
            <p14:sldId id="257"/>
            <p14:sldId id="264"/>
          </p14:sldIdLst>
        </p14:section>
        <p14:section name="LITERATURE SURVEY" id="{DE12CB0F-0394-47D9-A3B4-A90DBC8F8163}">
          <p14:sldIdLst>
            <p14:sldId id="283"/>
            <p14:sldId id="285"/>
            <p14:sldId id="323"/>
            <p14:sldId id="324"/>
            <p14:sldId id="325"/>
            <p14:sldId id="326"/>
            <p14:sldId id="286"/>
            <p14:sldId id="289"/>
            <p14:sldId id="327"/>
            <p14:sldId id="270"/>
            <p14:sldId id="275"/>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0000"/>
    <a:srgbClr val="FFCC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5" d="100"/>
          <a:sy n="65" d="100"/>
        </p:scale>
        <p:origin x="1954" y="331"/>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BFED70C-FD4B-491E-8556-4B9CB1E09EDE}" type="datetimeFigureOut">
              <a:rPr lang="en-US" smtClean="0"/>
              <a:pPr/>
              <a:t>3/23/2025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7EF83E0-D1F5-49DD-A0EB-D65885304307}"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7EF83E0-D1F5-49DD-A0EB-D65885304307}"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7EF83E0-D1F5-49DD-A0EB-D65885304307}"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7EF83E0-D1F5-49DD-A0EB-D65885304307}"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7EF83E0-D1F5-49DD-A0EB-D65885304307}"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7EF83E0-D1F5-49DD-A0EB-D65885304307}"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7EF83E0-D1F5-49DD-A0EB-D65885304307}" type="slidenum">
              <a:rPr lang="en-US" smtClean="0"/>
              <a:pPr/>
              <a:t>10</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7EF83E0-D1F5-49DD-A0EB-D65885304307}" type="slidenum">
              <a:rPr lang="en-US" smtClean="0"/>
              <a:pPr/>
              <a:t>11</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2AAD2-3C30-8AFF-B85C-7FAE71F40A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CDF658-451D-D675-4B0E-E91D5A5756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3FA228-6DC5-562B-58B2-93AB22371163}"/>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B0CD31B0-6467-E255-98D9-A5B11C2CA584}"/>
              </a:ext>
            </a:extLst>
          </p:cNvPr>
          <p:cNvSpPr>
            <a:spLocks noGrp="1"/>
          </p:cNvSpPr>
          <p:nvPr>
            <p:ph type="sldNum" sz="quarter" idx="10"/>
          </p:nvPr>
        </p:nvSpPr>
        <p:spPr/>
        <p:txBody>
          <a:bodyPr/>
          <a:lstStyle/>
          <a:p>
            <a:fld id="{77EF83E0-D1F5-49DD-A0EB-D65885304307}" type="slidenum">
              <a:rPr lang="en-US" smtClean="0"/>
              <a:pPr/>
              <a:t>12</a:t>
            </a:fld>
            <a:endParaRPr lang="en-US"/>
          </a:p>
        </p:txBody>
      </p:sp>
    </p:spTree>
    <p:extLst>
      <p:ext uri="{BB962C8B-B14F-4D97-AF65-F5344CB8AC3E}">
        <p14:creationId xmlns:p14="http://schemas.microsoft.com/office/powerpoint/2010/main" val="6292967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7EF83E0-D1F5-49DD-A0EB-D65885304307}" type="slidenum">
              <a:rPr lang="en-US" smtClean="0"/>
              <a:pPr/>
              <a:t>13</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7EF83E0-D1F5-49DD-A0EB-D65885304307}" type="slidenum">
              <a:rPr lang="en-US" smtClean="0"/>
              <a:pPr/>
              <a:t>14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466EAAC-0460-4F94-86F8-43DC00A005D5}" type="datetimeFigureOut">
              <a:rPr lang="en-US" smtClean="0"/>
              <a:pPr/>
              <a:t>3/23/2025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CD578B-1C0D-4F45-8E0A-999504DF69D2}"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466EAAC-0460-4F94-86F8-43DC00A005D5}" type="datetimeFigureOut">
              <a:rPr lang="en-US" smtClean="0"/>
              <a:pPr/>
              <a:t>3/23/2025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CD578B-1C0D-4F45-8E0A-999504DF69D2}"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66EAAC-0460-4F94-86F8-43DC00A005D5}" type="datetimeFigureOut">
              <a:rPr lang="en-US" smtClean="0"/>
              <a:pPr/>
              <a:t>3/23/2025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CD578B-1C0D-4F45-8E0A-999504DF69D2}"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466EAAC-0460-4F94-86F8-43DC00A005D5}" type="datetimeFigureOut">
              <a:rPr lang="en-US" smtClean="0"/>
              <a:pPr/>
              <a:t>3/23/2025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CD578B-1C0D-4F45-8E0A-999504DF69D2}"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66EAAC-0460-4F94-86F8-43DC00A005D5}" type="datetimeFigureOut">
              <a:rPr lang="en-US" smtClean="0"/>
              <a:pPr/>
              <a:t>3/23/2025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9CD578B-1C0D-4F45-8E0A-999504DF69D2}"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466EAAC-0460-4F94-86F8-43DC00A005D5}" type="datetimeFigureOut">
              <a:rPr lang="en-US" smtClean="0"/>
              <a:pPr/>
              <a:t>3/23/2025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CD578B-1C0D-4F45-8E0A-999504DF69D2}"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66EAAC-0460-4F94-86F8-43DC00A005D5}" type="datetimeFigureOut">
              <a:rPr lang="en-US" smtClean="0"/>
              <a:pPr/>
              <a:t>3/23/2025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9CD578B-1C0D-4F45-8E0A-999504DF69D2}"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66EAAC-0460-4F94-86F8-43DC00A005D5}" type="datetimeFigureOut">
              <a:rPr lang="en-US" smtClean="0"/>
              <a:pPr/>
              <a:t>3/23/2025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CD578B-1C0D-4F45-8E0A-999504DF69D2}"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66EAAC-0460-4F94-86F8-43DC00A005D5}" type="datetimeFigureOut">
              <a:rPr lang="en-US" smtClean="0"/>
              <a:pPr/>
              <a:t>3/23/2025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CD578B-1C0D-4F45-8E0A-999504DF69D2}"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466EAAC-0460-4F94-86F8-43DC00A005D5}" type="datetimeFigureOut">
              <a:rPr lang="en-US" smtClean="0"/>
              <a:pPr/>
              <a:t>3/23/2025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CD578B-1C0D-4F45-8E0A-999504DF69D2}"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466EAAC-0460-4F94-86F8-43DC00A005D5}" type="datetimeFigureOut">
              <a:rPr lang="en-US" smtClean="0"/>
              <a:pPr/>
              <a:t>3/23/2025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CD578B-1C0D-4F45-8E0A-999504DF69D2}"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66EAAC-0460-4F94-86F8-43DC00A005D5}" type="datetimeFigureOut">
              <a:rPr lang="en-US" smtClean="0"/>
              <a:pPr/>
              <a:t>3/23/2025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CD578B-1C0D-4F45-8E0A-999504DF69D2}"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609600"/>
            <a:ext cx="8534400" cy="3276599"/>
          </a:xfrm>
        </p:spPr>
        <p:txBody>
          <a:bodyPr>
            <a:noAutofit/>
          </a:bodyPr>
          <a:lstStyle/>
          <a:p>
            <a:r>
              <a:rPr lang="en-US" sz="2800" b="1" dirty="0">
                <a:latin typeface="Times New Roman" pitchFamily="18" charset="0"/>
                <a:cs typeface="Times New Roman" pitchFamily="18" charset="0"/>
              </a:rPr>
              <a:t>STUDENTS LISTENING PREDICTION IN CLASS USING Django WEB APPLICATION</a:t>
            </a:r>
            <a:endParaRPr lang="en-US" sz="2800" dirty="0">
              <a:latin typeface="Arial Black" pitchFamily="34" charset="0"/>
            </a:endParaRPr>
          </a:p>
        </p:txBody>
      </p:sp>
      <p:sp>
        <p:nvSpPr>
          <p:cNvPr id="3" name="Subtitle 2"/>
          <p:cNvSpPr>
            <a:spLocks noGrp="1"/>
          </p:cNvSpPr>
          <p:nvPr>
            <p:ph type="subTitle" idx="1"/>
          </p:nvPr>
        </p:nvSpPr>
        <p:spPr>
          <a:xfrm>
            <a:off x="381000" y="1905000"/>
            <a:ext cx="9753600" cy="4343400"/>
          </a:xfrm>
        </p:spPr>
        <p:txBody>
          <a:bodyPr>
            <a:normAutofit fontScale="25000" lnSpcReduction="20000"/>
          </a:bodyPr>
          <a:lstStyle/>
          <a:p>
            <a:pPr algn="just"/>
            <a:r>
              <a:rPr lang="en-US" sz="8000" dirty="0">
                <a:solidFill>
                  <a:schemeClr val="tx1"/>
                </a:solidFill>
                <a:latin typeface="Times New Roman" pitchFamily="18" charset="0"/>
                <a:cs typeface="Times New Roman" pitchFamily="18" charset="0"/>
              </a:rPr>
              <a:t>                                    BY </a:t>
            </a:r>
            <a:r>
              <a:rPr lang="en-US" sz="4500" dirty="0">
                <a:solidFill>
                  <a:schemeClr val="tx1"/>
                </a:solidFill>
                <a:latin typeface="Times New Roman" pitchFamily="18" charset="0"/>
                <a:cs typeface="Times New Roman" pitchFamily="18" charset="0"/>
              </a:rPr>
              <a:t>:</a:t>
            </a:r>
          </a:p>
          <a:p>
            <a:pPr algn="just"/>
            <a:r>
              <a:rPr lang="en-US" sz="7200" dirty="0">
                <a:solidFill>
                  <a:schemeClr val="tx1"/>
                </a:solidFill>
                <a:latin typeface="Times New Roman" pitchFamily="18" charset="0"/>
                <a:cs typeface="Times New Roman" pitchFamily="18" charset="0"/>
              </a:rPr>
              <a:t>                                  1.  ARCHANA A</a:t>
            </a:r>
          </a:p>
          <a:p>
            <a:pPr algn="just"/>
            <a:r>
              <a:rPr lang="en-US" sz="7200" dirty="0">
                <a:solidFill>
                  <a:schemeClr val="tx1"/>
                </a:solidFill>
                <a:latin typeface="Times New Roman" pitchFamily="18" charset="0"/>
                <a:cs typeface="Times New Roman" pitchFamily="18" charset="0"/>
              </a:rPr>
              <a:t>                                    112621104001</a:t>
            </a:r>
          </a:p>
          <a:p>
            <a:pPr algn="just"/>
            <a:r>
              <a:rPr lang="en-US" sz="7200" dirty="0">
                <a:solidFill>
                  <a:schemeClr val="tx1"/>
                </a:solidFill>
                <a:latin typeface="Times New Roman" pitchFamily="18" charset="0"/>
                <a:cs typeface="Times New Roman" pitchFamily="18" charset="0"/>
              </a:rPr>
              <a:t>                                     CSE</a:t>
            </a:r>
          </a:p>
          <a:p>
            <a:pPr algn="just"/>
            <a:endParaRPr lang="en-US" sz="7200" dirty="0">
              <a:solidFill>
                <a:schemeClr val="tx1"/>
              </a:solidFill>
              <a:latin typeface="Times New Roman" pitchFamily="18" charset="0"/>
              <a:cs typeface="Times New Roman" pitchFamily="18" charset="0"/>
            </a:endParaRPr>
          </a:p>
          <a:p>
            <a:pPr algn="just"/>
            <a:r>
              <a:rPr lang="en-US" sz="7200" dirty="0">
                <a:solidFill>
                  <a:schemeClr val="tx1"/>
                </a:solidFill>
                <a:latin typeface="Times New Roman" pitchFamily="18" charset="0"/>
                <a:cs typeface="Times New Roman" pitchFamily="18" charset="0"/>
              </a:rPr>
              <a:t>                                  2. KEERTHANA B </a:t>
            </a:r>
          </a:p>
          <a:p>
            <a:pPr algn="just"/>
            <a:r>
              <a:rPr lang="en-US" sz="7200" dirty="0">
                <a:solidFill>
                  <a:schemeClr val="tx1"/>
                </a:solidFill>
                <a:latin typeface="Times New Roman" pitchFamily="18" charset="0"/>
                <a:cs typeface="Times New Roman" pitchFamily="18" charset="0"/>
              </a:rPr>
              <a:t>                                    112621104011</a:t>
            </a:r>
          </a:p>
          <a:p>
            <a:pPr algn="just"/>
            <a:r>
              <a:rPr lang="en-US" sz="7200" dirty="0">
                <a:solidFill>
                  <a:schemeClr val="tx1"/>
                </a:solidFill>
                <a:latin typeface="Times New Roman" pitchFamily="18" charset="0"/>
                <a:cs typeface="Times New Roman" pitchFamily="18" charset="0"/>
              </a:rPr>
              <a:t>                                      CSE</a:t>
            </a:r>
          </a:p>
          <a:p>
            <a:pPr algn="just"/>
            <a:endParaRPr lang="en-US" sz="7200" dirty="0">
              <a:solidFill>
                <a:schemeClr val="tx1"/>
              </a:solidFill>
              <a:latin typeface="Times New Roman" pitchFamily="18" charset="0"/>
              <a:cs typeface="Times New Roman" pitchFamily="18" charset="0"/>
            </a:endParaRPr>
          </a:p>
          <a:p>
            <a:pPr algn="just"/>
            <a:r>
              <a:rPr lang="en-US" sz="7200" dirty="0">
                <a:solidFill>
                  <a:schemeClr val="tx1"/>
                </a:solidFill>
                <a:latin typeface="Times New Roman" pitchFamily="18" charset="0"/>
                <a:cs typeface="Times New Roman" pitchFamily="18" charset="0"/>
              </a:rPr>
              <a:t>                                 3. VENMATHI R</a:t>
            </a:r>
          </a:p>
          <a:p>
            <a:pPr algn="just"/>
            <a:r>
              <a:rPr lang="en-US" sz="7200" dirty="0">
                <a:solidFill>
                  <a:schemeClr val="tx1"/>
                </a:solidFill>
                <a:latin typeface="Times New Roman" pitchFamily="18" charset="0"/>
                <a:cs typeface="Times New Roman" pitchFamily="18" charset="0"/>
              </a:rPr>
              <a:t>                                    112621104024</a:t>
            </a:r>
          </a:p>
          <a:p>
            <a:pPr algn="just"/>
            <a:r>
              <a:rPr lang="en-US" sz="7200" dirty="0">
                <a:solidFill>
                  <a:schemeClr val="tx1"/>
                </a:solidFill>
                <a:latin typeface="Times New Roman" pitchFamily="18" charset="0"/>
                <a:cs typeface="Times New Roman" pitchFamily="18" charset="0"/>
              </a:rPr>
              <a:t>                                      CSE</a:t>
            </a:r>
          </a:p>
          <a:p>
            <a:pPr algn="just"/>
            <a:endParaRPr lang="en-US" sz="7200" dirty="0">
              <a:solidFill>
                <a:schemeClr val="tx1"/>
              </a:solidFill>
              <a:latin typeface="Times New Roman" pitchFamily="18" charset="0"/>
              <a:cs typeface="Times New Roman" pitchFamily="18" charset="0"/>
            </a:endParaRPr>
          </a:p>
          <a:p>
            <a:pPr algn="just"/>
            <a:r>
              <a:rPr lang="en-US" sz="7200" dirty="0">
                <a:solidFill>
                  <a:schemeClr val="tx1"/>
                </a:solidFill>
                <a:latin typeface="Times New Roman" pitchFamily="18" charset="0"/>
                <a:cs typeface="Times New Roman" pitchFamily="18" charset="0"/>
              </a:rPr>
              <a:t>                                   GUIDED BY :</a:t>
            </a:r>
          </a:p>
          <a:p>
            <a:pPr algn="just"/>
            <a:r>
              <a:rPr lang="en-US" sz="7200" dirty="0">
                <a:solidFill>
                  <a:schemeClr val="tx1"/>
                </a:solidFill>
                <a:latin typeface="Times New Roman" pitchFamily="18" charset="0"/>
                <a:cs typeface="Times New Roman" pitchFamily="18" charset="0"/>
              </a:rPr>
              <a:t>                                   </a:t>
            </a:r>
            <a:r>
              <a:rPr lang="en-US" sz="7200" dirty="0" err="1">
                <a:solidFill>
                  <a:schemeClr val="tx1"/>
                </a:solidFill>
                <a:latin typeface="Times New Roman" pitchFamily="18" charset="0"/>
                <a:cs typeface="Times New Roman" pitchFamily="18" charset="0"/>
              </a:rPr>
              <a:t>Ms.SOUMIYA</a:t>
            </a:r>
            <a:r>
              <a:rPr lang="en-US" sz="7200" dirty="0">
                <a:solidFill>
                  <a:schemeClr val="tx1"/>
                </a:solidFill>
                <a:latin typeface="Times New Roman" pitchFamily="18" charset="0"/>
                <a:cs typeface="Times New Roman" pitchFamily="18" charset="0"/>
              </a:rPr>
              <a:t>                  </a:t>
            </a:r>
          </a:p>
          <a:p>
            <a:pPr algn="just"/>
            <a:r>
              <a:rPr lang="en-US" sz="7200" dirty="0">
                <a:solidFill>
                  <a:schemeClr val="tx1"/>
                </a:solidFill>
                <a:latin typeface="Times New Roman" pitchFamily="18" charset="0"/>
                <a:cs typeface="Times New Roman" pitchFamily="18" charset="0"/>
              </a:rPr>
              <a:t>                                   ASSISTANT PROFESSOR</a:t>
            </a:r>
          </a:p>
          <a:p>
            <a:pPr algn="just"/>
            <a:r>
              <a:rPr lang="en-US" sz="7200" dirty="0">
                <a:solidFill>
                  <a:schemeClr val="tx1"/>
                </a:solidFill>
                <a:latin typeface="Times New Roman" pitchFamily="18" charset="0"/>
                <a:cs typeface="Times New Roman" pitchFamily="18" charset="0"/>
              </a:rPr>
              <a:t>                                   DEPARTMENT: CYBER			</a:t>
            </a:r>
          </a:p>
          <a:p>
            <a:endParaRPr lang="en-US" dirty="0">
              <a:solidFill>
                <a:schemeClr val="tx1"/>
              </a:solidFill>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latin typeface="Times New Roman" pitchFamily="18" charset="0"/>
                <a:cs typeface="Times New Roman" pitchFamily="18" charset="0"/>
              </a:rPr>
              <a:t>INTRODUCTION</a:t>
            </a:r>
            <a:br>
              <a:rPr lang="en-US" sz="3600" dirty="0">
                <a:latin typeface="Times New Roman" pitchFamily="18" charset="0"/>
                <a:cs typeface="Times New Roman" pitchFamily="18" charset="0"/>
              </a:rPr>
            </a:br>
            <a:r>
              <a:rPr lang="en-US" sz="3600" b="1" dirty="0">
                <a:latin typeface="Times New Roman" pitchFamily="18" charset="0"/>
                <a:cs typeface="Times New Roman" pitchFamily="18" charset="0"/>
              </a:rPr>
              <a:t>PYTHON-Django Web application</a:t>
            </a:r>
          </a:p>
        </p:txBody>
      </p:sp>
      <p:sp>
        <p:nvSpPr>
          <p:cNvPr id="13" name="Content Placeholder 12">
            <a:extLst>
              <a:ext uri="{FF2B5EF4-FFF2-40B4-BE49-F238E27FC236}">
                <a16:creationId xmlns:a16="http://schemas.microsoft.com/office/drawing/2014/main" id="{33BEDF52-14D6-82FD-496C-BDACB799DB82}"/>
              </a:ext>
            </a:extLst>
          </p:cNvPr>
          <p:cNvSpPr>
            <a:spLocks noGrp="1"/>
          </p:cNvSpPr>
          <p:nvPr>
            <p:ph idx="1"/>
          </p:nvPr>
        </p:nvSpPr>
        <p:spPr/>
        <p:txBody>
          <a:bodyPr>
            <a:normAutofit fontScale="85000" lnSpcReduction="20000"/>
          </a:bodyPr>
          <a:lstStyle/>
          <a:p>
            <a:r>
              <a:rPr lang="en-IN" sz="2800" dirty="0">
                <a:latin typeface="Arial" panose="020B0604020202020204" pitchFamily="34" charset="0"/>
                <a:cs typeface="Arial" panose="020B0604020202020204" pitchFamily="34" charset="0"/>
              </a:rPr>
              <a:t>This project analyses the Active and Passive listening prediction of students in class using Django, incorporated with Machine learning algorithms and deep learning techniques.</a:t>
            </a:r>
          </a:p>
          <a:p>
            <a:pPr marL="0" indent="0">
              <a:buNone/>
            </a:pPr>
            <a:endParaRPr lang="en-IN" sz="2800" dirty="0">
              <a:latin typeface="Arial" panose="020B0604020202020204" pitchFamily="34" charset="0"/>
              <a:cs typeface="Arial" panose="020B0604020202020204" pitchFamily="34" charset="0"/>
            </a:endParaRPr>
          </a:p>
          <a:p>
            <a:r>
              <a:rPr lang="en-US" sz="2800" b="0" i="0" dirty="0">
                <a:solidFill>
                  <a:srgbClr val="374151"/>
                </a:solidFill>
                <a:effectLst/>
                <a:latin typeface="Arial" panose="020B0604020202020204" pitchFamily="34" charset="0"/>
                <a:cs typeface="Arial" panose="020B0604020202020204" pitchFamily="34" charset="0"/>
              </a:rPr>
              <a:t>Django framework, a powerful web development tool that allows for the creation of robust and scalable web applications.</a:t>
            </a:r>
          </a:p>
          <a:p>
            <a:pPr marL="0" indent="0">
              <a:buNone/>
            </a:pPr>
            <a:endParaRPr lang="en-US" sz="2800" b="0" i="0" dirty="0">
              <a:solidFill>
                <a:srgbClr val="374151"/>
              </a:solidFill>
              <a:effectLst/>
              <a:latin typeface="Arial" panose="020B0604020202020204" pitchFamily="34" charset="0"/>
              <a:cs typeface="Arial" panose="020B0604020202020204" pitchFamily="34" charset="0"/>
            </a:endParaRPr>
          </a:p>
          <a:p>
            <a:r>
              <a:rPr lang="en-US" sz="2800" b="0" i="0" dirty="0">
                <a:solidFill>
                  <a:srgbClr val="374151"/>
                </a:solidFill>
                <a:effectLst/>
                <a:latin typeface="Arial" panose="020B0604020202020204" pitchFamily="34" charset="0"/>
                <a:cs typeface="Arial" panose="020B0604020202020204" pitchFamily="34" charset="0"/>
              </a:rPr>
              <a:t>Python, the programming language behind Django, offers a rich ecosystem of libraries and frameworks for data analysis and machine learning, such as TensorFlow and </a:t>
            </a:r>
            <a:r>
              <a:rPr lang="en-US" sz="2800" b="0" i="0" dirty="0" err="1">
                <a:solidFill>
                  <a:srgbClr val="374151"/>
                </a:solidFill>
                <a:effectLst/>
                <a:latin typeface="Arial" panose="020B0604020202020204" pitchFamily="34" charset="0"/>
                <a:cs typeface="Arial" panose="020B0604020202020204" pitchFamily="34" charset="0"/>
              </a:rPr>
              <a:t>Keras</a:t>
            </a:r>
            <a:r>
              <a:rPr lang="en-US" b="0" i="0" dirty="0">
                <a:solidFill>
                  <a:srgbClr val="374151"/>
                </a:solidFill>
                <a:effectLst/>
                <a:latin typeface="__Inter_d65c78"/>
              </a:rPr>
              <a:t>.</a:t>
            </a:r>
            <a:endParaRPr lang="en-IN" dirty="0"/>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3200" b="1" dirty="0">
                <a:latin typeface="Times New Roman" pitchFamily="18" charset="0"/>
                <a:cs typeface="Times New Roman" pitchFamily="18" charset="0"/>
              </a:rPr>
              <a:t>ABSTRACT</a:t>
            </a:r>
          </a:p>
        </p:txBody>
      </p:sp>
      <p:sp>
        <p:nvSpPr>
          <p:cNvPr id="3" name="Content Placeholder 2"/>
          <p:cNvSpPr>
            <a:spLocks noGrp="1"/>
          </p:cNvSpPr>
          <p:nvPr>
            <p:ph idx="1"/>
          </p:nvPr>
        </p:nvSpPr>
        <p:spPr>
          <a:xfrm>
            <a:off x="304800" y="1066800"/>
            <a:ext cx="8610600" cy="5791200"/>
          </a:xfrm>
        </p:spPr>
        <p:txBody>
          <a:bodyPr>
            <a:noAutofit/>
          </a:bodyPr>
          <a:lstStyle/>
          <a:p>
            <a:pPr algn="just">
              <a:buFont typeface="Wingdings" panose="05000000000000000000" pitchFamily="2" charset="2"/>
              <a:buChar char="q"/>
            </a:pPr>
            <a:r>
              <a:rPr lang="en-US" sz="1800" dirty="0">
                <a:effectLst/>
                <a:latin typeface="Arial" panose="020B0604020202020204" pitchFamily="34" charset="0"/>
                <a:ea typeface="Calibri" panose="020F0502020204030204" pitchFamily="34" charset="0"/>
                <a:cs typeface="Arial" panose="020B0604020202020204" pitchFamily="34" charset="0"/>
              </a:rPr>
              <a:t>The present study investigates the prediction of academic achievement (high vs. low) machine learning and flask framework. Student’s performance is a success factor in higher education institutions. </a:t>
            </a:r>
          </a:p>
          <a:p>
            <a:pPr marL="0" indent="0" algn="just">
              <a:buNone/>
            </a:pPr>
            <a:endParaRPr lang="en-US" sz="1800" dirty="0">
              <a:latin typeface="Arial" panose="020B0604020202020204" pitchFamily="34" charset="0"/>
              <a:ea typeface="Calibri" panose="020F0502020204030204" pitchFamily="34" charset="0"/>
              <a:cs typeface="Arial" panose="020B0604020202020204" pitchFamily="34" charset="0"/>
            </a:endParaRPr>
          </a:p>
          <a:p>
            <a:pPr algn="just">
              <a:buFont typeface="Wingdings" panose="05000000000000000000" pitchFamily="2" charset="2"/>
              <a:buChar char="q"/>
            </a:pPr>
            <a:r>
              <a:rPr lang="en-US" sz="1800" dirty="0">
                <a:effectLst/>
                <a:latin typeface="Arial" panose="020B0604020202020204" pitchFamily="34" charset="0"/>
                <a:ea typeface="Calibri" panose="020F0502020204030204" pitchFamily="34" charset="0"/>
                <a:cs typeface="Arial" panose="020B0604020202020204" pitchFamily="34" charset="0"/>
              </a:rPr>
              <a:t>This systematic review intends to explore the current machine learning methods and attributes used in predicting the student’s performance.</a:t>
            </a:r>
            <a:r>
              <a:rPr lang="en-IN" sz="1800" dirty="0">
                <a:effectLst/>
                <a:latin typeface="Arial" panose="020B0604020202020204" pitchFamily="34" charset="0"/>
                <a:ea typeface="Calibri" panose="020F0502020204030204" pitchFamily="34" charset="0"/>
                <a:cs typeface="Arial" panose="020B0604020202020204" pitchFamily="34" charset="0"/>
              </a:rPr>
              <a:t> Measuring Student’s performance is necessary for the mordent society. </a:t>
            </a:r>
          </a:p>
          <a:p>
            <a:pPr marL="0" indent="0" algn="just">
              <a:buNone/>
            </a:pPr>
            <a:endParaRPr lang="en-US" sz="1800" dirty="0">
              <a:effectLst/>
              <a:latin typeface="Arial" panose="020B0604020202020204" pitchFamily="34" charset="0"/>
              <a:ea typeface="Calibri" panose="020F0502020204030204" pitchFamily="34" charset="0"/>
              <a:cs typeface="Arial" panose="020B0604020202020204" pitchFamily="34" charset="0"/>
            </a:endParaRPr>
          </a:p>
          <a:p>
            <a:pPr algn="just">
              <a:buFont typeface="Wingdings" panose="05000000000000000000" pitchFamily="2" charset="2"/>
              <a:buChar char="q"/>
            </a:pPr>
            <a:r>
              <a:rPr lang="en-IN" sz="1800" dirty="0">
                <a:effectLst/>
                <a:latin typeface="Arial" panose="020B0604020202020204" pitchFamily="34" charset="0"/>
                <a:ea typeface="Calibri" panose="020F0502020204030204" pitchFamily="34" charset="0"/>
                <a:cs typeface="Arial" panose="020B0604020202020204" pitchFamily="34" charset="0"/>
              </a:rPr>
              <a:t>Applications of Machine learning algorithms increased the growth in various fields like disease prediction, student’s performance prediction, and crop productions prediction and in various other fields.</a:t>
            </a:r>
          </a:p>
          <a:p>
            <a:pPr marL="0" indent="0" algn="just">
              <a:buNone/>
            </a:pPr>
            <a:endParaRPr lang="en-IN" sz="1800" dirty="0">
              <a:effectLst/>
              <a:latin typeface="Arial" panose="020B0604020202020204" pitchFamily="34" charset="0"/>
              <a:ea typeface="Calibri" panose="020F0502020204030204" pitchFamily="34" charset="0"/>
              <a:cs typeface="Arial" panose="020B0604020202020204" pitchFamily="34" charset="0"/>
            </a:endParaRPr>
          </a:p>
          <a:p>
            <a:pPr algn="just">
              <a:buFont typeface="Wingdings" panose="05000000000000000000" pitchFamily="2" charset="2"/>
              <a:buChar char="q"/>
            </a:pPr>
            <a:r>
              <a:rPr lang="en-IN" sz="1800" dirty="0">
                <a:effectLst/>
                <a:latin typeface="Arial" panose="020B0604020202020204" pitchFamily="34" charset="0"/>
                <a:ea typeface="Calibri" panose="020F0502020204030204" pitchFamily="34" charset="0"/>
                <a:cs typeface="Arial" panose="020B0604020202020204" pitchFamily="34" charset="0"/>
              </a:rPr>
              <a:t>The main aim of this study is to improve the prediction of students’ performance using various machine learning algorithms. And apply this model file in web application and it will predict the students  performance.</a:t>
            </a:r>
            <a:endParaRPr lang="en-US" sz="2800" dirty="0">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93098219"/>
              </p:ext>
            </p:extLst>
          </p:nvPr>
        </p:nvGraphicFramePr>
        <p:xfrm>
          <a:off x="304800" y="228600"/>
          <a:ext cx="8686800" cy="6615311"/>
        </p:xfrm>
        <a:graphic>
          <a:graphicData uri="http://schemas.openxmlformats.org/drawingml/2006/table">
            <a:tbl>
              <a:tblPr firstRow="1" bandRow="1">
                <a:tableStyleId>{5C22544A-7EE6-4342-B048-85BDC9FD1C3A}</a:tableStyleId>
              </a:tblPr>
              <a:tblGrid>
                <a:gridCol w="2171700">
                  <a:extLst>
                    <a:ext uri="{9D8B030D-6E8A-4147-A177-3AD203B41FA5}">
                      <a16:colId xmlns:a16="http://schemas.microsoft.com/office/drawing/2014/main" val="20000"/>
                    </a:ext>
                  </a:extLst>
                </a:gridCol>
                <a:gridCol w="2171700">
                  <a:extLst>
                    <a:ext uri="{9D8B030D-6E8A-4147-A177-3AD203B41FA5}">
                      <a16:colId xmlns:a16="http://schemas.microsoft.com/office/drawing/2014/main" val="20001"/>
                    </a:ext>
                  </a:extLst>
                </a:gridCol>
                <a:gridCol w="2171700">
                  <a:extLst>
                    <a:ext uri="{9D8B030D-6E8A-4147-A177-3AD203B41FA5}">
                      <a16:colId xmlns:a16="http://schemas.microsoft.com/office/drawing/2014/main" val="20002"/>
                    </a:ext>
                  </a:extLst>
                </a:gridCol>
                <a:gridCol w="2171700">
                  <a:extLst>
                    <a:ext uri="{9D8B030D-6E8A-4147-A177-3AD203B41FA5}">
                      <a16:colId xmlns:a16="http://schemas.microsoft.com/office/drawing/2014/main" val="20003"/>
                    </a:ext>
                  </a:extLst>
                </a:gridCol>
              </a:tblGrid>
              <a:tr h="1143000">
                <a:tc>
                  <a:txBody>
                    <a:bodyPr/>
                    <a:lstStyle/>
                    <a:p>
                      <a:pPr algn="ctr"/>
                      <a:r>
                        <a:rPr lang="en-US" dirty="0"/>
                        <a:t>AUTHOR</a:t>
                      </a:r>
                    </a:p>
                  </a:txBody>
                  <a:tcPr/>
                </a:tc>
                <a:tc>
                  <a:txBody>
                    <a:bodyPr/>
                    <a:lstStyle/>
                    <a:p>
                      <a:pPr algn="ctr"/>
                      <a:r>
                        <a:rPr lang="en-US" dirty="0"/>
                        <a:t>TITLE</a:t>
                      </a:r>
                    </a:p>
                  </a:txBody>
                  <a:tcPr/>
                </a:tc>
                <a:tc>
                  <a:txBody>
                    <a:bodyPr/>
                    <a:lstStyle/>
                    <a:p>
                      <a:pPr algn="ctr"/>
                      <a:r>
                        <a:rPr lang="en-US" dirty="0"/>
                        <a:t>ALGORITHM OR TECHNIQUE USED</a:t>
                      </a:r>
                    </a:p>
                  </a:txBody>
                  <a:tcPr/>
                </a:tc>
                <a:tc>
                  <a:txBody>
                    <a:bodyPr/>
                    <a:lstStyle/>
                    <a:p>
                      <a:pPr algn="ctr"/>
                      <a:r>
                        <a:rPr lang="en-US" dirty="0"/>
                        <a:t>INFERENCE</a:t>
                      </a:r>
                    </a:p>
                  </a:txBody>
                  <a:tcPr/>
                </a:tc>
                <a:extLst>
                  <a:ext uri="{0D108BD9-81ED-4DB2-BD59-A6C34878D82A}">
                    <a16:rowId xmlns:a16="http://schemas.microsoft.com/office/drawing/2014/main" val="10000"/>
                  </a:ext>
                </a:extLst>
              </a:tr>
              <a:tr h="2637671">
                <a:tc>
                  <a:txBody>
                    <a:bodyPr/>
                    <a:lstStyle/>
                    <a:p>
                      <a:r>
                        <a:rPr lang="en-US" sz="1600" b="1" dirty="0"/>
                        <a:t>1.</a:t>
                      </a:r>
                      <a:r>
                        <a:rPr lang="pt-BR" sz="1800" b="1" i="0" kern="1200" dirty="0">
                          <a:solidFill>
                            <a:schemeClr val="dk1"/>
                          </a:solidFill>
                          <a:effectLst/>
                          <a:latin typeface="+mn-lt"/>
                          <a:ea typeface="+mn-ea"/>
                          <a:cs typeface="+mn-cs"/>
                        </a:rPr>
                        <a:t> Baker, R. S. J. D., &amp; Inventado, P. S.</a:t>
                      </a:r>
                      <a:endParaRPr lang="en-US" sz="1600" dirty="0">
                        <a:latin typeface="Times New Roman" pitchFamily="18" charset="0"/>
                        <a:cs typeface="Times New Roman" pitchFamily="18" charset="0"/>
                      </a:endParaRPr>
                    </a:p>
                  </a:txBody>
                  <a:tcPr/>
                </a:tc>
                <a:tc>
                  <a:txBody>
                    <a:bodyPr/>
                    <a:lstStyle/>
                    <a:p>
                      <a:r>
                        <a:rPr lang="en-IN" sz="1800" b="1" i="0" kern="1200" dirty="0">
                          <a:solidFill>
                            <a:schemeClr val="dk1"/>
                          </a:solidFill>
                          <a:effectLst/>
                          <a:latin typeface="+mn-lt"/>
                          <a:ea typeface="+mn-ea"/>
                          <a:cs typeface="+mn-cs"/>
                        </a:rPr>
                        <a:t>Predictive Modelling in Education</a:t>
                      </a:r>
                    </a:p>
                  </a:txBody>
                  <a:tcPr/>
                </a:tc>
                <a:tc>
                  <a:txBody>
                    <a:bodyPr/>
                    <a:lstStyle/>
                    <a:p>
                      <a:pPr>
                        <a:buNone/>
                      </a:pPr>
                      <a:r>
                        <a:rPr lang="en-US" sz="1800" b="0" i="0" kern="1200" dirty="0">
                          <a:solidFill>
                            <a:schemeClr val="dk1"/>
                          </a:solidFill>
                          <a:effectLst/>
                          <a:latin typeface="+mn-lt"/>
                          <a:ea typeface="+mn-ea"/>
                          <a:cs typeface="+mn-cs"/>
                        </a:rPr>
                        <a:t> Deep learning in predicting listening behavior</a:t>
                      </a:r>
                      <a:endParaRPr lang="en-US" sz="2400" dirty="0"/>
                    </a:p>
                  </a:txBody>
                  <a:tcPr/>
                </a:tc>
                <a:tc>
                  <a:txBody>
                    <a:bodyPr/>
                    <a:lstStyle/>
                    <a:p>
                      <a:pPr algn="just">
                        <a:buNone/>
                      </a:pPr>
                      <a:r>
                        <a:rPr lang="en-US" sz="1800" b="0" i="0" kern="1200" dirty="0">
                          <a:solidFill>
                            <a:schemeClr val="dk1"/>
                          </a:solidFill>
                          <a:effectLst/>
                          <a:latin typeface="+mn-lt"/>
                          <a:ea typeface="+mn-ea"/>
                          <a:cs typeface="+mn-cs"/>
                        </a:rPr>
                        <a:t>This paper discusses the use of learning analytics to predict student performance and engagement.</a:t>
                      </a:r>
                      <a:endParaRPr lang="en-US" sz="2000" dirty="0"/>
                    </a:p>
                  </a:txBody>
                  <a:tcPr/>
                </a:tc>
                <a:extLst>
                  <a:ext uri="{0D108BD9-81ED-4DB2-BD59-A6C34878D82A}">
                    <a16:rowId xmlns:a16="http://schemas.microsoft.com/office/drawing/2014/main" val="10001"/>
                  </a:ext>
                </a:extLst>
              </a:tr>
              <a:tr h="2687531">
                <a:tc>
                  <a:txBody>
                    <a:bodyPr/>
                    <a:lstStyle/>
                    <a:p>
                      <a:r>
                        <a:rPr lang="en-US" sz="1600" dirty="0"/>
                        <a:t>2.</a:t>
                      </a:r>
                      <a:r>
                        <a:rPr lang="en-IN" sz="1800" b="1" i="0" kern="1200" dirty="0">
                          <a:solidFill>
                            <a:schemeClr val="dk1"/>
                          </a:solidFill>
                          <a:effectLst/>
                          <a:latin typeface="+mn-lt"/>
                          <a:ea typeface="+mn-ea"/>
                          <a:cs typeface="+mn-cs"/>
                        </a:rPr>
                        <a:t> Huang, Y., &amp; Li, Y.</a:t>
                      </a:r>
                      <a:endParaRPr lang="en-US" sz="1600" dirty="0">
                        <a:latin typeface="Times New Roman" pitchFamily="18" charset="0"/>
                        <a:cs typeface="Times New Roman" pitchFamily="18" charset="0"/>
                      </a:endParaRPr>
                    </a:p>
                  </a:txBody>
                  <a:tcPr/>
                </a:tc>
                <a:tc>
                  <a:txBody>
                    <a:bodyPr/>
                    <a:lstStyle/>
                    <a:p>
                      <a:r>
                        <a:rPr lang="en-US" sz="1800" b="1" i="0" kern="1200" dirty="0">
                          <a:solidFill>
                            <a:schemeClr val="dk1"/>
                          </a:solidFill>
                          <a:effectLst/>
                          <a:latin typeface="+mn-lt"/>
                          <a:ea typeface="+mn-ea"/>
                          <a:cs typeface="+mn-cs"/>
                        </a:rPr>
                        <a:t>Deep Learning Techniques for Engagement Prediction</a:t>
                      </a:r>
                    </a:p>
                  </a:txBody>
                  <a:tcPr/>
                </a:tc>
                <a:tc>
                  <a:txBody>
                    <a:bodyPr/>
                    <a:lstStyle/>
                    <a:p>
                      <a:pPr>
                        <a:buNone/>
                      </a:pPr>
                      <a:r>
                        <a:rPr lang="en-US" sz="1800" b="0" i="0" kern="1200" dirty="0">
                          <a:solidFill>
                            <a:schemeClr val="dk1"/>
                          </a:solidFill>
                          <a:effectLst/>
                          <a:latin typeface="+mn-lt"/>
                          <a:ea typeface="+mn-ea"/>
                          <a:cs typeface="+mn-cs"/>
                        </a:rPr>
                        <a:t>Long Short-Term Memory (LSTM) networks</a:t>
                      </a:r>
                      <a:r>
                        <a:rPr lang="en-US" sz="1600" baseline="0" dirty="0"/>
                        <a:t>.</a:t>
                      </a:r>
                      <a:endParaRPr lang="en-US" sz="2400" dirty="0"/>
                    </a:p>
                  </a:txBody>
                  <a:tcPr/>
                </a:tc>
                <a:tc>
                  <a:txBody>
                    <a:bodyPr/>
                    <a:lstStyle/>
                    <a:p>
                      <a:pPr algn="just">
                        <a:buNone/>
                      </a:pPr>
                      <a:r>
                        <a:rPr lang="en-US" sz="1800" b="0" i="0" kern="1200" dirty="0">
                          <a:solidFill>
                            <a:schemeClr val="dk1"/>
                          </a:solidFill>
                          <a:effectLst/>
                          <a:latin typeface="+mn-lt"/>
                          <a:ea typeface="+mn-ea"/>
                          <a:cs typeface="+mn-cs"/>
                        </a:rPr>
                        <a:t>The findings suggest that LSTM networks can effectively capture temporal dependencies in student behavior, making them suitable for predicting listening patterns.</a:t>
                      </a:r>
                      <a:endParaRPr lang="en-US" sz="2000" dirty="0"/>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671748191"/>
              </p:ext>
            </p:extLst>
          </p:nvPr>
        </p:nvGraphicFramePr>
        <p:xfrm>
          <a:off x="228600" y="228600"/>
          <a:ext cx="8763000" cy="6629400"/>
        </p:xfrm>
        <a:graphic>
          <a:graphicData uri="http://schemas.openxmlformats.org/drawingml/2006/table">
            <a:tbl>
              <a:tblPr firstRow="1" bandRow="1">
                <a:tableStyleId>{5C22544A-7EE6-4342-B048-85BDC9FD1C3A}</a:tableStyleId>
              </a:tblPr>
              <a:tblGrid>
                <a:gridCol w="2190750">
                  <a:extLst>
                    <a:ext uri="{9D8B030D-6E8A-4147-A177-3AD203B41FA5}">
                      <a16:colId xmlns:a16="http://schemas.microsoft.com/office/drawing/2014/main" val="20000"/>
                    </a:ext>
                  </a:extLst>
                </a:gridCol>
                <a:gridCol w="2152650">
                  <a:extLst>
                    <a:ext uri="{9D8B030D-6E8A-4147-A177-3AD203B41FA5}">
                      <a16:colId xmlns:a16="http://schemas.microsoft.com/office/drawing/2014/main" val="20001"/>
                    </a:ext>
                  </a:extLst>
                </a:gridCol>
                <a:gridCol w="2228850">
                  <a:extLst>
                    <a:ext uri="{9D8B030D-6E8A-4147-A177-3AD203B41FA5}">
                      <a16:colId xmlns:a16="http://schemas.microsoft.com/office/drawing/2014/main" val="20002"/>
                    </a:ext>
                  </a:extLst>
                </a:gridCol>
                <a:gridCol w="2190750">
                  <a:extLst>
                    <a:ext uri="{9D8B030D-6E8A-4147-A177-3AD203B41FA5}">
                      <a16:colId xmlns:a16="http://schemas.microsoft.com/office/drawing/2014/main" val="20003"/>
                    </a:ext>
                  </a:extLst>
                </a:gridCol>
              </a:tblGrid>
              <a:tr h="1283110">
                <a:tc>
                  <a:txBody>
                    <a:bodyPr/>
                    <a:lstStyle/>
                    <a:p>
                      <a:pPr algn="ctr"/>
                      <a:r>
                        <a:rPr lang="en-US" dirty="0"/>
                        <a:t>AUTHOR</a:t>
                      </a:r>
                    </a:p>
                  </a:txBody>
                  <a:tcPr/>
                </a:tc>
                <a:tc>
                  <a:txBody>
                    <a:bodyPr/>
                    <a:lstStyle/>
                    <a:p>
                      <a:pPr algn="ctr"/>
                      <a:r>
                        <a:rPr lang="en-US" dirty="0"/>
                        <a:t>TITLE</a:t>
                      </a:r>
                    </a:p>
                  </a:txBody>
                  <a:tcPr/>
                </a:tc>
                <a:tc>
                  <a:txBody>
                    <a:bodyPr/>
                    <a:lstStyle/>
                    <a:p>
                      <a:pPr algn="ctr"/>
                      <a:r>
                        <a:rPr lang="en-US" dirty="0"/>
                        <a:t>ALGORITHM OR TECNIQUES USED</a:t>
                      </a:r>
                    </a:p>
                  </a:txBody>
                  <a:tcPr/>
                </a:tc>
                <a:tc>
                  <a:txBody>
                    <a:bodyPr/>
                    <a:lstStyle/>
                    <a:p>
                      <a:pPr algn="ctr"/>
                      <a:r>
                        <a:rPr lang="en-US" baseline="0" dirty="0"/>
                        <a:t>INFERENCE </a:t>
                      </a:r>
                      <a:endParaRPr lang="en-US" dirty="0"/>
                    </a:p>
                  </a:txBody>
                  <a:tcPr/>
                </a:tc>
                <a:extLst>
                  <a:ext uri="{0D108BD9-81ED-4DB2-BD59-A6C34878D82A}">
                    <a16:rowId xmlns:a16="http://schemas.microsoft.com/office/drawing/2014/main" val="10000"/>
                  </a:ext>
                </a:extLst>
              </a:tr>
              <a:tr h="2673145">
                <a:tc>
                  <a:txBody>
                    <a:bodyPr/>
                    <a:lstStyle/>
                    <a:p>
                      <a:r>
                        <a:rPr lang="en-US" sz="1600" dirty="0"/>
                        <a:t>3.</a:t>
                      </a:r>
                      <a:r>
                        <a:rPr lang="en-IN" sz="1800" b="1" i="0" kern="1200" dirty="0">
                          <a:solidFill>
                            <a:schemeClr val="dk1"/>
                          </a:solidFill>
                          <a:effectLst/>
                          <a:latin typeface="+mn-lt"/>
                          <a:ea typeface="+mn-ea"/>
                          <a:cs typeface="+mn-cs"/>
                        </a:rPr>
                        <a:t> Kumar, A., &amp; Singh, R.</a:t>
                      </a:r>
                      <a:endParaRPr lang="en-US" sz="1600" dirty="0">
                        <a:latin typeface="Times New Roman" pitchFamily="18" charset="0"/>
                        <a:cs typeface="Times New Roman" pitchFamily="18" charset="0"/>
                      </a:endParaRPr>
                    </a:p>
                  </a:txBody>
                  <a:tcPr/>
                </a:tc>
                <a:tc>
                  <a:txBody>
                    <a:bodyPr/>
                    <a:lstStyle/>
                    <a:p>
                      <a:r>
                        <a:rPr lang="en-US" sz="1800" b="1" i="0" kern="1200" dirty="0">
                          <a:solidFill>
                            <a:schemeClr val="dk1"/>
                          </a:solidFill>
                          <a:effectLst/>
                          <a:latin typeface="+mn-lt"/>
                          <a:ea typeface="+mn-ea"/>
                          <a:cs typeface="+mn-cs"/>
                        </a:rPr>
                        <a:t>Web Development Frameworks in Education</a:t>
                      </a:r>
                    </a:p>
                  </a:txBody>
                  <a:tcPr/>
                </a:tc>
                <a:tc>
                  <a:txBody>
                    <a:bodyPr/>
                    <a:lstStyle/>
                    <a:p>
                      <a:pPr>
                        <a:buNone/>
                      </a:pPr>
                      <a:r>
                        <a:rPr lang="en-US" sz="1800" b="0" i="0" kern="1200" dirty="0">
                          <a:solidFill>
                            <a:schemeClr val="dk1"/>
                          </a:solidFill>
                          <a:effectLst/>
                          <a:latin typeface="+mn-lt"/>
                          <a:ea typeface="+mn-ea"/>
                          <a:cs typeface="+mn-cs"/>
                        </a:rPr>
                        <a:t>Django framework for web application development.</a:t>
                      </a:r>
                      <a:endParaRPr lang="en-US" sz="2400" dirty="0"/>
                    </a:p>
                  </a:txBody>
                  <a:tcPr/>
                </a:tc>
                <a:tc>
                  <a:txBody>
                    <a:bodyPr/>
                    <a:lstStyle/>
                    <a:p>
                      <a:pPr algn="just">
                        <a:buNone/>
                      </a:pPr>
                      <a:r>
                        <a:rPr lang="en-US" sz="1800" b="0" i="0" kern="1200" dirty="0">
                          <a:solidFill>
                            <a:schemeClr val="dk1"/>
                          </a:solidFill>
                          <a:effectLst/>
                          <a:latin typeface="+mn-lt"/>
                          <a:ea typeface="+mn-ea"/>
                          <a:cs typeface="+mn-cs"/>
                        </a:rPr>
                        <a:t>the use of Django in developing educational platforms. </a:t>
                      </a:r>
                      <a:endParaRPr lang="en-US" sz="2000" dirty="0"/>
                    </a:p>
                  </a:txBody>
                  <a:tcPr/>
                </a:tc>
                <a:extLst>
                  <a:ext uri="{0D108BD9-81ED-4DB2-BD59-A6C34878D82A}">
                    <a16:rowId xmlns:a16="http://schemas.microsoft.com/office/drawing/2014/main" val="10001"/>
                  </a:ext>
                </a:extLst>
              </a:tr>
              <a:tr h="2673145">
                <a:tc>
                  <a:txBody>
                    <a:bodyPr/>
                    <a:lstStyle/>
                    <a:p>
                      <a:endParaRPr lang="en-US" sz="1600" dirty="0">
                        <a:latin typeface="Times New Roman" pitchFamily="18" charset="0"/>
                        <a:cs typeface="Times New Roman" pitchFamily="18" charset="0"/>
                      </a:endParaRPr>
                    </a:p>
                  </a:txBody>
                  <a:tcPr/>
                </a:tc>
                <a:tc>
                  <a:txBody>
                    <a:bodyPr/>
                    <a:lstStyle/>
                    <a:p>
                      <a:pPr>
                        <a:buNone/>
                      </a:pPr>
                      <a:endParaRPr lang="en-US" sz="1600" b="1" dirty="0">
                        <a:latin typeface="Times New Roman" pitchFamily="18" charset="0"/>
                        <a:cs typeface="Times New Roman" pitchFamily="18" charset="0"/>
                      </a:endParaRPr>
                    </a:p>
                  </a:txBody>
                  <a:tcPr/>
                </a:tc>
                <a:tc>
                  <a:txBody>
                    <a:bodyPr/>
                    <a:lstStyle/>
                    <a:p>
                      <a:pPr>
                        <a:buNone/>
                      </a:pPr>
                      <a:endParaRPr lang="en-US" sz="2400" dirty="0"/>
                    </a:p>
                  </a:txBody>
                  <a:tcPr/>
                </a:tc>
                <a:tc>
                  <a:txBody>
                    <a:bodyPr/>
                    <a:lstStyle/>
                    <a:p>
                      <a:pPr algn="just">
                        <a:buNone/>
                      </a:pPr>
                      <a:endParaRPr lang="en-US" sz="2000" dirty="0"/>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EXISTING SYSTEM</a:t>
            </a:r>
          </a:p>
        </p:txBody>
      </p:sp>
      <p:sp>
        <p:nvSpPr>
          <p:cNvPr id="3" name="Content Placeholder 2"/>
          <p:cNvSpPr>
            <a:spLocks noGrp="1"/>
          </p:cNvSpPr>
          <p:nvPr>
            <p:ph idx="1"/>
          </p:nvPr>
        </p:nvSpPr>
        <p:spPr/>
        <p:txBody>
          <a:bodyPr>
            <a:normAutofit/>
          </a:bodyPr>
          <a:lstStyle/>
          <a:p>
            <a:r>
              <a:rPr lang="en-US" sz="2400" b="0" i="0" dirty="0">
                <a:solidFill>
                  <a:srgbClr val="374151"/>
                </a:solidFill>
                <a:effectLst/>
                <a:latin typeface="+mj-lt"/>
              </a:rPr>
              <a:t>Many educational institutions use Learning Management Systems (LMS) like Moodle, Canvas, or Blackboard to track student engagement through attendance, participation in discussions, and assignment submissions.</a:t>
            </a:r>
          </a:p>
          <a:p>
            <a:r>
              <a:rPr lang="en-US" sz="1400" b="0" i="0" dirty="0">
                <a:solidFill>
                  <a:srgbClr val="374151"/>
                </a:solidFill>
                <a:effectLst/>
                <a:latin typeface="__Inter_d65c78"/>
              </a:rPr>
              <a:t> </a:t>
            </a:r>
            <a:r>
              <a:rPr lang="en-US" sz="2400" b="0" i="0" dirty="0">
                <a:solidFill>
                  <a:srgbClr val="374151"/>
                </a:solidFill>
                <a:effectLst/>
                <a:latin typeface="+mj-lt"/>
              </a:rPr>
              <a:t>Various academic studies have developed machine learning models to predict patterns and trends in student behavior, allowing educators to intervene when students are likely to disengage.</a:t>
            </a:r>
          </a:p>
          <a:p>
            <a:r>
              <a:rPr lang="en-US" sz="2400" b="0" i="0" dirty="0">
                <a:solidFill>
                  <a:srgbClr val="374151"/>
                </a:solidFill>
                <a:effectLst/>
                <a:latin typeface="+mj-lt"/>
              </a:rPr>
              <a:t>Django-based applications that focus on specific aspects of student engagement, can provide dashboards for educators to visualize student engagement metrics and generate reports.</a:t>
            </a:r>
            <a:endParaRPr lang="en-US" sz="2400" dirty="0">
              <a:latin typeface="+mj-lt"/>
            </a:endParaRPr>
          </a:p>
        </p:txBody>
      </p:sp>
    </p:spTree>
    <p:extLst>
      <p:ext uri="{BB962C8B-B14F-4D97-AF65-F5344CB8AC3E}">
        <p14:creationId xmlns:p14="http://schemas.microsoft.com/office/powerpoint/2010/main" val="30467193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DISADVANTAGE OF EXISTING SYSTEM</a:t>
            </a:r>
          </a:p>
        </p:txBody>
      </p:sp>
      <p:sp>
        <p:nvSpPr>
          <p:cNvPr id="3" name="Content Placeholder 2"/>
          <p:cNvSpPr>
            <a:spLocks noGrp="1"/>
          </p:cNvSpPr>
          <p:nvPr>
            <p:ph idx="1"/>
          </p:nvPr>
        </p:nvSpPr>
        <p:spPr/>
        <p:txBody>
          <a:bodyPr>
            <a:normAutofit fontScale="92500" lnSpcReduction="20000"/>
          </a:bodyPr>
          <a:lstStyle/>
          <a:p>
            <a:r>
              <a:rPr lang="en-US" sz="2400" b="0" i="0" dirty="0">
                <a:solidFill>
                  <a:srgbClr val="374151"/>
                </a:solidFill>
                <a:effectLst/>
              </a:rPr>
              <a:t>Privacy concerns and ethical considerations regarding the use of facial recognition in educational settings can hinder widespread adoption. </a:t>
            </a:r>
          </a:p>
          <a:p>
            <a:pPr marL="0" indent="0">
              <a:buNone/>
            </a:pPr>
            <a:endParaRPr lang="en-US" sz="2400" b="0" i="0" dirty="0">
              <a:solidFill>
                <a:srgbClr val="374151"/>
              </a:solidFill>
              <a:effectLst/>
            </a:endParaRPr>
          </a:p>
          <a:p>
            <a:r>
              <a:rPr lang="en-US" sz="2400" b="0" i="0" dirty="0">
                <a:solidFill>
                  <a:srgbClr val="374151"/>
                </a:solidFill>
                <a:effectLst/>
              </a:rPr>
              <a:t>often lack real-time analytics and predictive capabilities. They primarily focus on historical data rather than actively predicting student listening behavior during live classes.</a:t>
            </a:r>
          </a:p>
          <a:p>
            <a:pPr marL="0" indent="0">
              <a:buNone/>
            </a:pPr>
            <a:endParaRPr lang="en-US" sz="2400" b="0" i="0" dirty="0">
              <a:solidFill>
                <a:srgbClr val="374151"/>
              </a:solidFill>
              <a:effectLst/>
            </a:endParaRPr>
          </a:p>
          <a:p>
            <a:r>
              <a:rPr lang="en-US" sz="2400" b="0" i="0" dirty="0">
                <a:solidFill>
                  <a:srgbClr val="374151"/>
                </a:solidFill>
                <a:effectLst/>
              </a:rPr>
              <a:t>Many of these models are standalone applications and may not be integrated into a user-friendly web interface, limiting their accessibility for educators.</a:t>
            </a:r>
          </a:p>
          <a:p>
            <a:pPr marL="0" indent="0">
              <a:buNone/>
            </a:pPr>
            <a:endParaRPr lang="en-US" sz="2400" dirty="0">
              <a:solidFill>
                <a:srgbClr val="374151"/>
              </a:solidFill>
            </a:endParaRPr>
          </a:p>
          <a:p>
            <a:r>
              <a:rPr lang="en-US" sz="2400" b="0" i="0" dirty="0">
                <a:solidFill>
                  <a:srgbClr val="374151"/>
                </a:solidFill>
                <a:effectLst/>
              </a:rPr>
              <a:t>these applications may offer valuable insights, they often lack advanced predictive capabilities and may not incorporate deep learning techniques for real-time listening prediction.</a:t>
            </a:r>
            <a:endParaRPr lang="en-US" sz="2400" dirty="0"/>
          </a:p>
        </p:txBody>
      </p:sp>
    </p:spTree>
    <p:extLst>
      <p:ext uri="{BB962C8B-B14F-4D97-AF65-F5344CB8AC3E}">
        <p14:creationId xmlns:p14="http://schemas.microsoft.com/office/powerpoint/2010/main" val="4606463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PROPOPSED WORK</a:t>
            </a:r>
          </a:p>
        </p:txBody>
      </p:sp>
      <p:sp>
        <p:nvSpPr>
          <p:cNvPr id="3" name="Content Placeholder 2"/>
          <p:cNvSpPr>
            <a:spLocks noGrp="1"/>
          </p:cNvSpPr>
          <p:nvPr>
            <p:ph idx="1"/>
          </p:nvPr>
        </p:nvSpPr>
        <p:spPr/>
        <p:txBody>
          <a:bodyPr>
            <a:normAutofit lnSpcReduction="10000"/>
          </a:bodyPr>
          <a:lstStyle/>
          <a:p>
            <a:r>
              <a:rPr lang="en-US" sz="2400" dirty="0"/>
              <a:t>Machine Learning Algorithm: LSTM(Long-Short Term Memory) </a:t>
            </a:r>
            <a:r>
              <a:rPr lang="en-US" sz="2400" b="0" i="0" dirty="0">
                <a:solidFill>
                  <a:srgbClr val="374151"/>
                </a:solidFill>
                <a:effectLst/>
                <a:latin typeface="__Inter_d65c78"/>
              </a:rPr>
              <a:t> a type of recurrent neural network (RNN) designed to learn from sequences of data</a:t>
            </a:r>
            <a:r>
              <a:rPr lang="en-US" b="0" i="0" dirty="0">
                <a:solidFill>
                  <a:srgbClr val="374151"/>
                </a:solidFill>
                <a:effectLst/>
                <a:latin typeface="__Inter_d65c78"/>
              </a:rPr>
              <a:t>. </a:t>
            </a:r>
          </a:p>
          <a:p>
            <a:pPr algn="l">
              <a:buFont typeface="Arial" panose="020B0604020202020204" pitchFamily="34" charset="0"/>
              <a:buChar char="•"/>
            </a:pPr>
            <a:r>
              <a:rPr lang="en-US" sz="2400" dirty="0">
                <a:solidFill>
                  <a:srgbClr val="374151"/>
                </a:solidFill>
                <a:latin typeface="__Inter_d65c78"/>
              </a:rPr>
              <a:t>Database: </a:t>
            </a:r>
            <a:r>
              <a:rPr lang="en-US" sz="2400" b="0" i="0" dirty="0">
                <a:solidFill>
                  <a:srgbClr val="374151"/>
                </a:solidFill>
                <a:effectLst/>
                <a:latin typeface="__Inter_d65c78"/>
              </a:rPr>
              <a:t>MySQL to store student data, engagement metrics, and model </a:t>
            </a:r>
            <a:r>
              <a:rPr lang="en-US" sz="2400" b="0" i="0" dirty="0" err="1">
                <a:solidFill>
                  <a:srgbClr val="374151"/>
                </a:solidFill>
                <a:effectLst/>
                <a:latin typeface="__Inter_d65c78"/>
              </a:rPr>
              <a:t>predictions,ensuring</a:t>
            </a:r>
            <a:r>
              <a:rPr lang="en-US" sz="2400" b="0" i="0" dirty="0">
                <a:solidFill>
                  <a:srgbClr val="374151"/>
                </a:solidFill>
                <a:effectLst/>
                <a:latin typeface="__Inter_d65c78"/>
              </a:rPr>
              <a:t> data integrity and security through proper database management practices.</a:t>
            </a:r>
          </a:p>
          <a:p>
            <a:pPr algn="l">
              <a:buFont typeface="Arial" panose="020B0604020202020204" pitchFamily="34" charset="0"/>
              <a:buChar char="•"/>
            </a:pPr>
            <a:r>
              <a:rPr lang="en-US" sz="2400" dirty="0">
                <a:solidFill>
                  <a:srgbClr val="374151"/>
                </a:solidFill>
                <a:latin typeface="__Inter_d65c78"/>
              </a:rPr>
              <a:t>Frontend: </a:t>
            </a:r>
            <a:r>
              <a:rPr lang="en-US" sz="2400" b="0" i="0" dirty="0">
                <a:solidFill>
                  <a:srgbClr val="374151"/>
                </a:solidFill>
                <a:effectLst/>
                <a:latin typeface="__Inter_d65c78"/>
              </a:rPr>
              <a:t>HTML, CSS, and JavaScript frameworks (e.g., React or Bootstrap) for a seamless user experience which include features such as dashboards, reports, and real-time feedback mechanisms.</a:t>
            </a:r>
          </a:p>
          <a:p>
            <a:pPr algn="l">
              <a:buFont typeface="Arial" panose="020B0604020202020204" pitchFamily="34" charset="0"/>
              <a:buChar char="•"/>
            </a:pPr>
            <a:r>
              <a:rPr lang="en-US" sz="2400" dirty="0">
                <a:solidFill>
                  <a:srgbClr val="374151"/>
                </a:solidFill>
                <a:latin typeface="__Inter_d65c78"/>
              </a:rPr>
              <a:t>Backend: </a:t>
            </a:r>
            <a:r>
              <a:rPr lang="en-US" sz="2400" b="0" i="0" dirty="0">
                <a:solidFill>
                  <a:srgbClr val="374151"/>
                </a:solidFill>
                <a:effectLst/>
                <a:latin typeface="__Inter_d65c78"/>
              </a:rPr>
              <a:t>Django as the backend framework to handle data processing, model integration, and user management.</a:t>
            </a:r>
          </a:p>
          <a:p>
            <a:pPr algn="l">
              <a:buFont typeface="Arial" panose="020B0604020202020204" pitchFamily="34" charset="0"/>
              <a:buChar char="•"/>
            </a:pPr>
            <a:endParaRPr lang="en-US" sz="2400" b="0" i="0" dirty="0">
              <a:solidFill>
                <a:srgbClr val="374151"/>
              </a:solidFill>
              <a:effectLst/>
              <a:latin typeface="__Inter_d65c78"/>
            </a:endParaRPr>
          </a:p>
          <a:p>
            <a:endParaRPr lang="en-US" b="0" i="0" dirty="0">
              <a:solidFill>
                <a:srgbClr val="374151"/>
              </a:solidFill>
              <a:effectLst/>
              <a:latin typeface="__Inter_d65c78"/>
            </a:endParaRPr>
          </a:p>
          <a:p>
            <a:endParaRPr lang="en-US" dirty="0"/>
          </a:p>
        </p:txBody>
      </p:sp>
    </p:spTree>
    <p:extLst>
      <p:ext uri="{BB962C8B-B14F-4D97-AF65-F5344CB8AC3E}">
        <p14:creationId xmlns:p14="http://schemas.microsoft.com/office/powerpoint/2010/main" val="15024632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ADVANTAGES OF PROPOSED WORK</a:t>
            </a:r>
          </a:p>
        </p:txBody>
      </p:sp>
      <p:sp>
        <p:nvSpPr>
          <p:cNvPr id="3" name="Content Placeholder 2"/>
          <p:cNvSpPr>
            <a:spLocks noGrp="1"/>
          </p:cNvSpPr>
          <p:nvPr>
            <p:ph idx="1"/>
          </p:nvPr>
        </p:nvSpPr>
        <p:spPr/>
        <p:txBody>
          <a:bodyPr/>
          <a:lstStyle/>
          <a:p>
            <a:pPr>
              <a:buFont typeface="Wingdings" panose="05000000000000000000" pitchFamily="2" charset="2"/>
              <a:buChar char="v"/>
            </a:pPr>
            <a:r>
              <a:rPr lang="en-US" b="0" i="0" dirty="0">
                <a:solidFill>
                  <a:srgbClr val="374151"/>
                </a:solidFill>
                <a:effectLst/>
                <a:latin typeface="__Inter_d65c78"/>
              </a:rPr>
              <a:t> </a:t>
            </a:r>
            <a:r>
              <a:rPr lang="en-US" sz="2400" b="0" i="0" dirty="0">
                <a:solidFill>
                  <a:srgbClr val="374151"/>
                </a:solidFill>
                <a:effectLst/>
                <a:latin typeface="__Inter_d65c78"/>
              </a:rPr>
              <a:t>The use of the Django framework allows for the development of a user-friendly web application that educators can easily navigate, even with limited technical expertise.</a:t>
            </a:r>
          </a:p>
          <a:p>
            <a:pPr>
              <a:buFont typeface="Wingdings" panose="05000000000000000000" pitchFamily="2" charset="2"/>
              <a:buChar char="v"/>
            </a:pPr>
            <a:r>
              <a:rPr lang="en-US" sz="2400" b="0" i="0" dirty="0">
                <a:solidFill>
                  <a:srgbClr val="374151"/>
                </a:solidFill>
                <a:effectLst/>
                <a:latin typeface="__Inter_d65c78"/>
              </a:rPr>
              <a:t>The system can integrate various data sources, such as attendance records, participation metrics, and potentially visual data (e.g., facial expressions), to enhance the accuracy of predictions</a:t>
            </a:r>
            <a:r>
              <a:rPr lang="en-US" sz="1400" b="0" i="0" dirty="0">
                <a:solidFill>
                  <a:srgbClr val="374151"/>
                </a:solidFill>
                <a:effectLst/>
                <a:latin typeface="__Inter_d65c78"/>
              </a:rPr>
              <a:t>.</a:t>
            </a:r>
          </a:p>
          <a:p>
            <a:pPr>
              <a:buFont typeface="Wingdings" panose="05000000000000000000" pitchFamily="2" charset="2"/>
              <a:buChar char="v"/>
            </a:pPr>
            <a:r>
              <a:rPr lang="en-US" sz="2400" b="0" i="0" dirty="0">
                <a:solidFill>
                  <a:srgbClr val="374151"/>
                </a:solidFill>
                <a:effectLst/>
                <a:latin typeface="__Inter_d65c78"/>
              </a:rPr>
              <a:t>The project represents a novel application of deep learning and predictive analytics in the educational sector, contributing to the growing field of educational technology.</a:t>
            </a:r>
            <a:endParaRPr lang="en-US" sz="2400" dirty="0"/>
          </a:p>
        </p:txBody>
      </p:sp>
    </p:spTree>
    <p:extLst>
      <p:ext uri="{BB962C8B-B14F-4D97-AF65-F5344CB8AC3E}">
        <p14:creationId xmlns:p14="http://schemas.microsoft.com/office/powerpoint/2010/main" val="17396276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latin typeface="Times New Roman" pitchFamily="18" charset="0"/>
                <a:cs typeface="Times New Roman" pitchFamily="18" charset="0"/>
              </a:rPr>
              <a:t>PROBLEM DEFINITION</a:t>
            </a:r>
          </a:p>
        </p:txBody>
      </p:sp>
      <p:sp>
        <p:nvSpPr>
          <p:cNvPr id="3" name="Content Placeholder 2"/>
          <p:cNvSpPr>
            <a:spLocks noGrp="1"/>
          </p:cNvSpPr>
          <p:nvPr>
            <p:ph idx="1"/>
          </p:nvPr>
        </p:nvSpPr>
        <p:spPr>
          <a:xfrm>
            <a:off x="457200" y="1524000"/>
            <a:ext cx="8458200" cy="4648200"/>
          </a:xfrm>
        </p:spPr>
        <p:txBody>
          <a:bodyPr>
            <a:normAutofit fontScale="25000" lnSpcReduction="20000"/>
          </a:bodyPr>
          <a:lstStyle/>
          <a:p>
            <a:pPr>
              <a:buFont typeface="Wingdings" panose="05000000000000000000" pitchFamily="2" charset="2"/>
              <a:buChar char="§"/>
            </a:pPr>
            <a:r>
              <a:rPr lang="en-US" sz="9600" i="0" dirty="0">
                <a:effectLst/>
              </a:rPr>
              <a:t>What specific data points will be collected in real-time to assess student listening behavior during class?</a:t>
            </a:r>
          </a:p>
          <a:p>
            <a:pPr marL="0" indent="0">
              <a:buNone/>
            </a:pPr>
            <a:endParaRPr lang="en-US" sz="9600" i="0" dirty="0">
              <a:effectLst/>
            </a:endParaRPr>
          </a:p>
          <a:p>
            <a:pPr>
              <a:buFont typeface="Wingdings" panose="05000000000000000000" pitchFamily="2" charset="2"/>
              <a:buChar char="§"/>
            </a:pPr>
            <a:r>
              <a:rPr lang="en-US" sz="9600" i="0" dirty="0">
                <a:effectLst/>
              </a:rPr>
              <a:t>What key features should the Django web application include to ensure that educators can easily navigate and utilize the system?</a:t>
            </a:r>
          </a:p>
          <a:p>
            <a:pPr marL="0" indent="0">
              <a:buNone/>
            </a:pPr>
            <a:endParaRPr lang="en-US" sz="9600" i="0" dirty="0">
              <a:effectLst/>
            </a:endParaRPr>
          </a:p>
          <a:p>
            <a:pPr>
              <a:buFont typeface="Wingdings" panose="05000000000000000000" pitchFamily="2" charset="2"/>
              <a:buChar char="§"/>
            </a:pPr>
            <a:r>
              <a:rPr lang="en-US" sz="9600" b="0" i="0" dirty="0">
                <a:solidFill>
                  <a:srgbClr val="374151"/>
                </a:solidFill>
                <a:effectLst/>
              </a:rPr>
              <a:t>What types of data should be collected to predict student listening behavior accurately?</a:t>
            </a:r>
          </a:p>
          <a:p>
            <a:pPr marL="0" indent="0">
              <a:buNone/>
            </a:pPr>
            <a:endParaRPr lang="en-US" sz="9600" b="0" i="0" dirty="0">
              <a:solidFill>
                <a:srgbClr val="374151"/>
              </a:solidFill>
              <a:effectLst/>
            </a:endParaRPr>
          </a:p>
          <a:p>
            <a:pPr>
              <a:buFont typeface="Wingdings" panose="05000000000000000000" pitchFamily="2" charset="2"/>
              <a:buChar char="§"/>
            </a:pPr>
            <a:r>
              <a:rPr lang="en-US" sz="9600" b="0" i="0" dirty="0">
                <a:solidFill>
                  <a:srgbClr val="374151"/>
                </a:solidFill>
                <a:effectLst/>
              </a:rPr>
              <a:t>How can we design the system to provide timely alerts or notifications to educators when disengagement is predicted?</a:t>
            </a:r>
          </a:p>
          <a:p>
            <a:pPr>
              <a:buNone/>
            </a:pPr>
            <a:br>
              <a:rPr lang="en-US" sz="9600" dirty="0"/>
            </a:br>
            <a:endParaRPr lang="en-US" sz="9600" b="0" i="0" dirty="0">
              <a:solidFill>
                <a:srgbClr val="374151"/>
              </a:solidFill>
              <a:effectLst/>
            </a:endParaRPr>
          </a:p>
          <a:p>
            <a:pPr marL="0" indent="0">
              <a:buNone/>
            </a:pPr>
            <a:endParaRPr lang="en-US" sz="2400" dirty="0">
              <a:solidFill>
                <a:srgbClr val="374151"/>
              </a:solidFill>
            </a:endParaRPr>
          </a:p>
          <a:p>
            <a:pPr marL="0" indent="0">
              <a:buNone/>
            </a:pPr>
            <a:endParaRPr lang="en-US" sz="2400" b="0" i="0" dirty="0">
              <a:solidFill>
                <a:srgbClr val="374151"/>
              </a:solidFill>
              <a:effectLst/>
            </a:endParaRPr>
          </a:p>
          <a:p>
            <a:pPr>
              <a:buFont typeface="Wingdings" panose="05000000000000000000" pitchFamily="2" charset="2"/>
              <a:buChar char="§"/>
            </a:pPr>
            <a:endParaRPr lang="en-US" sz="2400" b="0" i="0" dirty="0">
              <a:solidFill>
                <a:srgbClr val="374151"/>
              </a:solidFill>
              <a:effectLst/>
            </a:endParaRPr>
          </a:p>
          <a:p>
            <a:pPr>
              <a:buFont typeface="Wingdings" panose="05000000000000000000" pitchFamily="2" charset="2"/>
              <a:buChar char="§"/>
            </a:pPr>
            <a:endParaRPr lang="en-US" sz="2400" i="0" dirty="0">
              <a:effectLst/>
            </a:endParaRPr>
          </a:p>
          <a:p>
            <a:pPr>
              <a:buFont typeface="Wingdings" panose="05000000000000000000" pitchFamily="2" charset="2"/>
              <a:buChar char="§"/>
            </a:pP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3600" b="1" dirty="0">
                <a:latin typeface="Times New Roman" pitchFamily="18" charset="0"/>
                <a:cs typeface="Times New Roman" pitchFamily="18" charset="0"/>
              </a:rPr>
              <a:t>HARDWARE &amp; SOFTWARE REQUIREMENT</a:t>
            </a:r>
            <a:br>
              <a:rPr lang="en-US" sz="3600" b="1" dirty="0">
                <a:latin typeface="Times New Roman" pitchFamily="18" charset="0"/>
                <a:cs typeface="Times New Roman" pitchFamily="18" charset="0"/>
              </a:rPr>
            </a:br>
            <a:endParaRPr lang="en-US" sz="3600" b="1" dirty="0">
              <a:latin typeface="Times New Roman" pitchFamily="18" charset="0"/>
              <a:cs typeface="Times New Roman" pitchFamily="18" charset="0"/>
            </a:endParaRPr>
          </a:p>
        </p:txBody>
      </p:sp>
      <p:sp>
        <p:nvSpPr>
          <p:cNvPr id="3" name="Content Placeholder 2"/>
          <p:cNvSpPr>
            <a:spLocks noGrp="1"/>
          </p:cNvSpPr>
          <p:nvPr>
            <p:ph idx="1"/>
          </p:nvPr>
        </p:nvSpPr>
        <p:spPr>
          <a:xfrm>
            <a:off x="222738" y="1295400"/>
            <a:ext cx="8534400" cy="5334000"/>
          </a:xfrm>
        </p:spPr>
        <p:txBody>
          <a:bodyPr>
            <a:normAutofit fontScale="55000" lnSpcReduction="20000"/>
          </a:bodyPr>
          <a:lstStyle/>
          <a:p>
            <a:pPr>
              <a:buNone/>
            </a:pPr>
            <a:r>
              <a:rPr lang="en-US" sz="5800" u="sng" dirty="0">
                <a:latin typeface="Bahnschrift" panose="020B0502040204020203" pitchFamily="34" charset="0"/>
              </a:rPr>
              <a:t>HARDWARE REQUIREMENTS</a:t>
            </a:r>
            <a:r>
              <a:rPr lang="en-US" dirty="0"/>
              <a:t>:</a:t>
            </a:r>
          </a:p>
          <a:p>
            <a:pPr>
              <a:buNone/>
            </a:pPr>
            <a:endParaRPr lang="en-US" dirty="0"/>
          </a:p>
          <a:p>
            <a:pPr>
              <a:buFont typeface="Wingdings" panose="05000000000000000000" pitchFamily="2" charset="2"/>
              <a:buChar char="Ø"/>
            </a:pPr>
            <a:r>
              <a:rPr lang="en-IN" sz="3600" b="1" i="0" dirty="0">
                <a:effectLst/>
                <a:latin typeface="Arial" panose="020B0604020202020204" pitchFamily="34" charset="0"/>
                <a:cs typeface="Arial" panose="020B0604020202020204" pitchFamily="34" charset="0"/>
              </a:rPr>
              <a:t>Processor:</a:t>
            </a:r>
            <a:r>
              <a:rPr lang="en-IN" sz="3600" b="0" i="0" dirty="0">
                <a:solidFill>
                  <a:srgbClr val="374151"/>
                </a:solidFill>
                <a:effectLst/>
                <a:latin typeface="Arial" panose="020B0604020202020204" pitchFamily="34" charset="0"/>
                <a:cs typeface="Arial" panose="020B0604020202020204" pitchFamily="34" charset="0"/>
              </a:rPr>
              <a:t> Intel i5 (equivalent or higher)</a:t>
            </a:r>
          </a:p>
          <a:p>
            <a:pPr marL="0" indent="0">
              <a:buNone/>
            </a:pPr>
            <a:endParaRPr lang="en-IN" sz="3600" b="0" i="0" dirty="0">
              <a:solidFill>
                <a:srgbClr val="374151"/>
              </a:solidFill>
              <a:effectLst/>
              <a:latin typeface="Arial" panose="020B0604020202020204" pitchFamily="34" charset="0"/>
              <a:cs typeface="Arial" panose="020B0604020202020204" pitchFamily="34" charset="0"/>
            </a:endParaRPr>
          </a:p>
          <a:p>
            <a:pPr>
              <a:buFont typeface="Wingdings" panose="05000000000000000000" pitchFamily="2" charset="2"/>
              <a:buChar char="Ø"/>
            </a:pPr>
            <a:r>
              <a:rPr lang="en-US" sz="3600" b="1" i="0" dirty="0">
                <a:effectLst/>
                <a:latin typeface="Arial" panose="020B0604020202020204" pitchFamily="34" charset="0"/>
                <a:cs typeface="Arial" panose="020B0604020202020204" pitchFamily="34" charset="0"/>
              </a:rPr>
              <a:t>RAM:</a:t>
            </a:r>
            <a:r>
              <a:rPr lang="en-US" sz="3600" b="0" i="0" dirty="0">
                <a:solidFill>
                  <a:srgbClr val="374151"/>
                </a:solidFill>
                <a:effectLst/>
                <a:latin typeface="Arial" panose="020B0604020202020204" pitchFamily="34" charset="0"/>
                <a:cs typeface="Arial" panose="020B0604020202020204" pitchFamily="34" charset="0"/>
              </a:rPr>
              <a:t> Minimum of 8 GB (16 GB recommended) </a:t>
            </a:r>
          </a:p>
          <a:p>
            <a:pPr marL="0" indent="0">
              <a:buNone/>
            </a:pPr>
            <a:endParaRPr lang="en-US" sz="3600" b="0" i="0" dirty="0">
              <a:solidFill>
                <a:srgbClr val="374151"/>
              </a:solidFill>
              <a:effectLst/>
              <a:latin typeface="Arial" panose="020B0604020202020204" pitchFamily="34" charset="0"/>
              <a:cs typeface="Arial" panose="020B0604020202020204" pitchFamily="34" charset="0"/>
            </a:endParaRPr>
          </a:p>
          <a:p>
            <a:pPr>
              <a:buFont typeface="Wingdings" panose="05000000000000000000" pitchFamily="2" charset="2"/>
              <a:buChar char="Ø"/>
            </a:pPr>
            <a:r>
              <a:rPr lang="en-US" sz="3600" b="1" i="0" dirty="0">
                <a:solidFill>
                  <a:srgbClr val="374151"/>
                </a:solidFill>
                <a:effectLst/>
                <a:latin typeface="Arial" panose="020B0604020202020204" pitchFamily="34" charset="0"/>
                <a:cs typeface="Arial" panose="020B0604020202020204" pitchFamily="34" charset="0"/>
              </a:rPr>
              <a:t>Graphics Card:</a:t>
            </a:r>
            <a:r>
              <a:rPr lang="en-US" sz="3600" dirty="0">
                <a:solidFill>
                  <a:srgbClr val="374151"/>
                </a:solidFill>
                <a:latin typeface="Arial" panose="020B0604020202020204" pitchFamily="34" charset="0"/>
                <a:cs typeface="Arial" panose="020B0604020202020204" pitchFamily="34" charset="0"/>
              </a:rPr>
              <a:t> B</a:t>
            </a:r>
            <a:r>
              <a:rPr lang="en-US" sz="3600" b="0" i="0" dirty="0">
                <a:solidFill>
                  <a:srgbClr val="374151"/>
                </a:solidFill>
                <a:effectLst/>
                <a:latin typeface="Arial" panose="020B0604020202020204" pitchFamily="34" charset="0"/>
                <a:cs typeface="Arial" panose="020B0604020202020204" pitchFamily="34" charset="0"/>
              </a:rPr>
              <a:t>eneficial for training deep learning model.</a:t>
            </a:r>
          </a:p>
          <a:p>
            <a:pPr marL="0" indent="0">
              <a:buNone/>
            </a:pPr>
            <a:endParaRPr lang="en-US" sz="3600" b="0" i="0" dirty="0">
              <a:solidFill>
                <a:srgbClr val="374151"/>
              </a:solidFill>
              <a:effectLst/>
              <a:latin typeface="Arial" panose="020B0604020202020204" pitchFamily="34" charset="0"/>
              <a:cs typeface="Arial" panose="020B0604020202020204" pitchFamily="34" charset="0"/>
            </a:endParaRPr>
          </a:p>
          <a:p>
            <a:pPr>
              <a:buFont typeface="Wingdings" panose="05000000000000000000" pitchFamily="2" charset="2"/>
              <a:buChar char="Ø"/>
            </a:pPr>
            <a:r>
              <a:rPr lang="en-US" sz="3600" b="1" i="0" dirty="0">
                <a:solidFill>
                  <a:srgbClr val="374151"/>
                </a:solidFill>
                <a:effectLst/>
                <a:latin typeface="Arial" panose="020B0604020202020204" pitchFamily="34" charset="0"/>
                <a:cs typeface="Arial" panose="020B0604020202020204" pitchFamily="34" charset="0"/>
              </a:rPr>
              <a:t>Cameras/Sensors:</a:t>
            </a:r>
            <a:r>
              <a:rPr lang="en-US" sz="3600" b="0" i="0" dirty="0">
                <a:solidFill>
                  <a:srgbClr val="374151"/>
                </a:solidFill>
                <a:effectLst/>
                <a:latin typeface="Arial" panose="020B0604020202020204" pitchFamily="34" charset="0"/>
                <a:cs typeface="Arial" panose="020B0604020202020204" pitchFamily="34" charset="0"/>
              </a:rPr>
              <a:t> visual data (e.g., facial recognition) is to be collected, appropriate cameras or sensors will be needed.</a:t>
            </a:r>
          </a:p>
          <a:p>
            <a:pPr marL="0" indent="0">
              <a:buNone/>
            </a:pPr>
            <a:endParaRPr lang="en-US" sz="3600" b="0" i="0" dirty="0">
              <a:solidFill>
                <a:srgbClr val="374151"/>
              </a:solidFill>
              <a:effectLst/>
              <a:latin typeface="Arial" panose="020B0604020202020204" pitchFamily="34" charset="0"/>
              <a:cs typeface="Arial" panose="020B0604020202020204" pitchFamily="34" charset="0"/>
            </a:endParaRPr>
          </a:p>
          <a:p>
            <a:pPr>
              <a:buFont typeface="Wingdings" panose="05000000000000000000" pitchFamily="2" charset="2"/>
              <a:buChar char="Ø"/>
            </a:pPr>
            <a:r>
              <a:rPr lang="en-US" sz="3600" b="1" i="0" dirty="0">
                <a:solidFill>
                  <a:srgbClr val="374151"/>
                </a:solidFill>
                <a:effectLst/>
                <a:latin typeface="Arial" panose="020B0604020202020204" pitchFamily="34" charset="0"/>
                <a:cs typeface="Arial" panose="020B0604020202020204" pitchFamily="34" charset="0"/>
              </a:rPr>
              <a:t>Storage:</a:t>
            </a:r>
            <a:r>
              <a:rPr lang="en-US" sz="3600" b="0" i="0" dirty="0">
                <a:solidFill>
                  <a:srgbClr val="374151"/>
                </a:solidFill>
                <a:effectLst/>
                <a:latin typeface="Arial" panose="020B0604020202020204" pitchFamily="34" charset="0"/>
                <a:cs typeface="Arial" panose="020B0604020202020204" pitchFamily="34" charset="0"/>
              </a:rPr>
              <a:t> At least 256 GB SSD for faster read/write speeds, especially when handling large datasets.</a:t>
            </a:r>
          </a:p>
          <a:p>
            <a:pPr>
              <a:buFont typeface="Wingdings" panose="05000000000000000000" pitchFamily="2" charset="2"/>
              <a:buChar char="Ø"/>
            </a:pPr>
            <a:endParaRPr lang="en-US" b="0" i="0" dirty="0">
              <a:solidFill>
                <a:srgbClr val="374151"/>
              </a:solidFill>
              <a:effectLst/>
              <a:latin typeface="__Inter_d65c78"/>
            </a:endParaRPr>
          </a:p>
          <a:p>
            <a:pPr marL="0" indent="0">
              <a:buNone/>
            </a:pPr>
            <a:endParaRPr lang="en-US" b="0" i="0" dirty="0">
              <a:solidFill>
                <a:srgbClr val="374151"/>
              </a:solidFill>
              <a:effectLst/>
              <a:latin typeface="__Inter_d65c78"/>
            </a:endParaRPr>
          </a:p>
          <a:p>
            <a:pPr>
              <a:buNone/>
            </a:pPr>
            <a:br>
              <a:rPr lang="en-US" dirty="0"/>
            </a:br>
            <a:endParaRPr lang="en-US" dirty="0"/>
          </a:p>
          <a:p>
            <a:pPr>
              <a:buNone/>
            </a:pPr>
            <a:r>
              <a:rPr lang="en-US" dirty="0"/>
              <a: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E3953-52A3-0B0D-3EB6-0EC7FCCD41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0B1F17-0BA0-13E0-8527-17F760019D3E}"/>
              </a:ext>
            </a:extLst>
          </p:cNvPr>
          <p:cNvSpPr>
            <a:spLocks noGrp="1"/>
          </p:cNvSpPr>
          <p:nvPr>
            <p:ph type="title"/>
          </p:nvPr>
        </p:nvSpPr>
        <p:spPr>
          <a:xfrm>
            <a:off x="-3276600" y="152400"/>
            <a:ext cx="11963400" cy="1752600"/>
          </a:xfrm>
        </p:spPr>
        <p:txBody>
          <a:bodyPr>
            <a:noAutofit/>
          </a:bodyPr>
          <a:lstStyle/>
          <a:p>
            <a:r>
              <a:rPr lang="en-US" sz="3600" b="1" dirty="0">
                <a:latin typeface="Times New Roman" pitchFamily="18" charset="0"/>
                <a:cs typeface="Times New Roman" pitchFamily="18" charset="0"/>
              </a:rPr>
              <a:t> </a:t>
            </a:r>
            <a:r>
              <a:rPr lang="en-US" sz="2800" u="sng" dirty="0">
                <a:latin typeface="Bahnschrift SemiBold" panose="020B0502040204020203" pitchFamily="34" charset="0"/>
                <a:cs typeface="Times New Roman" pitchFamily="18" charset="0"/>
              </a:rPr>
              <a:t>SOFTWARE REQUIREMENTS</a:t>
            </a:r>
            <a:r>
              <a:rPr lang="en-US" sz="2800" dirty="0">
                <a:latin typeface="Times New Roman" pitchFamily="18" charset="0"/>
                <a:cs typeface="Times New Roman" pitchFamily="18" charset="0"/>
              </a:rPr>
              <a:t>:</a:t>
            </a:r>
            <a:br>
              <a:rPr lang="en-US" sz="3600" dirty="0">
                <a:latin typeface="Times New Roman" pitchFamily="18" charset="0"/>
                <a:cs typeface="Times New Roman" pitchFamily="18" charset="0"/>
              </a:rPr>
            </a:br>
            <a:endParaRPr lang="en-US" sz="3600"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19CE67D9-3603-D27B-47BD-2729FE13FD4D}"/>
              </a:ext>
            </a:extLst>
          </p:cNvPr>
          <p:cNvSpPr>
            <a:spLocks noGrp="1"/>
          </p:cNvSpPr>
          <p:nvPr>
            <p:ph idx="1"/>
          </p:nvPr>
        </p:nvSpPr>
        <p:spPr>
          <a:xfrm>
            <a:off x="152400" y="1143000"/>
            <a:ext cx="8534400" cy="5181600"/>
          </a:xfrm>
        </p:spPr>
        <p:txBody>
          <a:bodyPr>
            <a:normAutofit fontScale="25000" lnSpcReduction="20000"/>
          </a:bodyPr>
          <a:lstStyle/>
          <a:p>
            <a:pPr>
              <a:buNone/>
            </a:pPr>
            <a:endParaRPr lang="en-US" dirty="0"/>
          </a:p>
          <a:p>
            <a:pPr>
              <a:buFont typeface="Wingdings" panose="05000000000000000000" pitchFamily="2" charset="2"/>
              <a:buChar char="Ø"/>
            </a:pPr>
            <a:r>
              <a:rPr lang="en-US" sz="8000" b="1" i="0" dirty="0">
                <a:effectLst/>
                <a:latin typeface="__Inter_d65c78"/>
              </a:rPr>
              <a:t>Programming Languages:</a:t>
            </a:r>
            <a:endParaRPr lang="en-US" sz="8000" b="1" i="0" dirty="0">
              <a:solidFill>
                <a:srgbClr val="374151"/>
              </a:solidFill>
              <a:effectLst/>
              <a:latin typeface="__Inter_d65c78"/>
            </a:endParaRPr>
          </a:p>
          <a:p>
            <a:pPr marL="0" indent="0">
              <a:buNone/>
            </a:pPr>
            <a:r>
              <a:rPr lang="en-US" sz="8000" b="1" dirty="0">
                <a:solidFill>
                  <a:srgbClr val="374151"/>
                </a:solidFill>
                <a:latin typeface="__Inter_d65c78"/>
              </a:rPr>
              <a:t>                 </a:t>
            </a:r>
            <a:r>
              <a:rPr lang="en-US" sz="8000" b="1" i="0" dirty="0">
                <a:effectLst/>
                <a:latin typeface="__Inter_d65c78"/>
              </a:rPr>
              <a:t>Python:</a:t>
            </a:r>
            <a:r>
              <a:rPr lang="en-US" sz="8000" b="0" i="0" dirty="0">
                <a:solidFill>
                  <a:srgbClr val="374151"/>
                </a:solidFill>
                <a:effectLst/>
                <a:latin typeface="__Inter_d65c78"/>
              </a:rPr>
              <a:t> Version 3.6 or higher</a:t>
            </a:r>
            <a:r>
              <a:rPr lang="en-US" sz="8000" dirty="0">
                <a:solidFill>
                  <a:srgbClr val="374151"/>
                </a:solidFill>
                <a:latin typeface="__Inter_d65c78"/>
              </a:rPr>
              <a:t>                   </a:t>
            </a:r>
          </a:p>
          <a:p>
            <a:pPr marL="0" indent="0">
              <a:buNone/>
            </a:pPr>
            <a:r>
              <a:rPr lang="en-US" sz="8000" b="1" dirty="0">
                <a:solidFill>
                  <a:srgbClr val="374151"/>
                </a:solidFill>
                <a:latin typeface="__Inter_d65c78"/>
              </a:rPr>
              <a:t>                 </a:t>
            </a:r>
            <a:r>
              <a:rPr lang="en-US" sz="8000" b="1" i="0" dirty="0">
                <a:solidFill>
                  <a:srgbClr val="374151"/>
                </a:solidFill>
                <a:effectLst/>
                <a:latin typeface="__Inter_d65c78"/>
              </a:rPr>
              <a:t>Django:</a:t>
            </a:r>
            <a:r>
              <a:rPr lang="en-US" sz="8000" dirty="0">
                <a:solidFill>
                  <a:srgbClr val="374151"/>
                </a:solidFill>
                <a:latin typeface="__Inter_d65c78"/>
              </a:rPr>
              <a:t> </a:t>
            </a:r>
            <a:r>
              <a:rPr lang="en-US" sz="8000" b="0" i="0" dirty="0">
                <a:solidFill>
                  <a:srgbClr val="374151"/>
                </a:solidFill>
                <a:effectLst/>
                <a:latin typeface="__Inter_d65c78"/>
              </a:rPr>
              <a:t> Django 3.x or 4.x for building the web application.</a:t>
            </a:r>
          </a:p>
          <a:p>
            <a:pPr marL="0" indent="0">
              <a:buNone/>
            </a:pPr>
            <a:r>
              <a:rPr lang="en-US" sz="8000" b="1" dirty="0">
                <a:solidFill>
                  <a:srgbClr val="374151"/>
                </a:solidFill>
                <a:latin typeface="__Inter_d65c78"/>
              </a:rPr>
              <a:t>                 Frontend Development</a:t>
            </a:r>
            <a:r>
              <a:rPr lang="en-US" sz="8000" dirty="0">
                <a:solidFill>
                  <a:srgbClr val="374151"/>
                </a:solidFill>
                <a:latin typeface="__Inter_d65c78"/>
              </a:rPr>
              <a:t>: HTML, CSS and JavaScript.</a:t>
            </a:r>
            <a:endParaRPr lang="en-US" sz="8000" b="0" i="0" dirty="0">
              <a:solidFill>
                <a:srgbClr val="374151"/>
              </a:solidFill>
              <a:effectLst/>
              <a:latin typeface="__Inter_d65c78"/>
            </a:endParaRPr>
          </a:p>
          <a:p>
            <a:pPr marL="0" indent="0">
              <a:buNone/>
            </a:pPr>
            <a:endParaRPr lang="en-US" sz="8000" b="0" i="0" dirty="0">
              <a:solidFill>
                <a:srgbClr val="374151"/>
              </a:solidFill>
              <a:effectLst/>
              <a:latin typeface="__Inter_d65c78"/>
            </a:endParaRPr>
          </a:p>
          <a:p>
            <a:pPr>
              <a:buFont typeface="Wingdings" panose="05000000000000000000" pitchFamily="2" charset="2"/>
              <a:buChar char="Ø"/>
            </a:pPr>
            <a:r>
              <a:rPr lang="en-US" sz="8000" b="1" dirty="0">
                <a:solidFill>
                  <a:srgbClr val="374151"/>
                </a:solidFill>
                <a:latin typeface="+mj-lt"/>
              </a:rPr>
              <a:t>Machine Learning Libraries</a:t>
            </a:r>
            <a:r>
              <a:rPr lang="en-US" sz="8000" dirty="0">
                <a:solidFill>
                  <a:srgbClr val="374151"/>
                </a:solidFill>
                <a:latin typeface="__Inter_d65c78"/>
              </a:rPr>
              <a:t>: </a:t>
            </a:r>
          </a:p>
          <a:p>
            <a:pPr marL="0" indent="0" algn="l">
              <a:buNone/>
            </a:pPr>
            <a:r>
              <a:rPr lang="en-US" sz="8000" dirty="0">
                <a:solidFill>
                  <a:srgbClr val="374151"/>
                </a:solidFill>
                <a:latin typeface="__Inter_d65c78"/>
              </a:rPr>
              <a:t>                         </a:t>
            </a:r>
            <a:endParaRPr lang="en-IN" sz="8000" b="0" i="0" dirty="0">
              <a:solidFill>
                <a:srgbClr val="374151"/>
              </a:solidFill>
              <a:effectLst/>
              <a:latin typeface="__Inter_d65c78"/>
            </a:endParaRPr>
          </a:p>
          <a:p>
            <a:pPr marL="457200" lvl="1" indent="0" algn="l">
              <a:buNone/>
            </a:pPr>
            <a:r>
              <a:rPr lang="en-IN" sz="8000" b="1" i="0" dirty="0">
                <a:solidFill>
                  <a:srgbClr val="374151"/>
                </a:solidFill>
                <a:effectLst/>
              </a:rPr>
              <a:t>TensorFlow :</a:t>
            </a:r>
            <a:r>
              <a:rPr lang="en-IN" sz="8000" b="0" i="0" dirty="0">
                <a:solidFill>
                  <a:srgbClr val="374151"/>
                </a:solidFill>
                <a:effectLst/>
              </a:rPr>
              <a:t> For building and training deep learning models (LSTM)</a:t>
            </a:r>
          </a:p>
          <a:p>
            <a:pPr marL="457200" lvl="1" indent="0" algn="l">
              <a:buNone/>
            </a:pPr>
            <a:r>
              <a:rPr lang="en-IN" sz="8000" b="1" i="0" dirty="0">
                <a:solidFill>
                  <a:srgbClr val="374151"/>
                </a:solidFill>
                <a:effectLst/>
              </a:rPr>
              <a:t>Scikit-learn:</a:t>
            </a:r>
            <a:r>
              <a:rPr lang="en-IN" sz="8000" b="0" i="0" dirty="0">
                <a:solidFill>
                  <a:srgbClr val="374151"/>
                </a:solidFill>
                <a:effectLst/>
              </a:rPr>
              <a:t> For traditional machine learning algorithms and data preprocessing.</a:t>
            </a:r>
          </a:p>
          <a:p>
            <a:pPr marL="457200" lvl="1" indent="0" algn="l">
              <a:buNone/>
            </a:pPr>
            <a:r>
              <a:rPr lang="en-IN" sz="8000" b="1" i="0" dirty="0">
                <a:solidFill>
                  <a:srgbClr val="374151"/>
                </a:solidFill>
                <a:effectLst/>
              </a:rPr>
              <a:t>Pandas:</a:t>
            </a:r>
            <a:r>
              <a:rPr lang="en-IN" sz="8000" b="0" i="0" dirty="0">
                <a:solidFill>
                  <a:srgbClr val="374151"/>
                </a:solidFill>
                <a:effectLst/>
              </a:rPr>
              <a:t> For data manipulation and analysis.</a:t>
            </a:r>
          </a:p>
          <a:p>
            <a:pPr marL="457200" lvl="1" indent="0" algn="l">
              <a:buNone/>
            </a:pPr>
            <a:r>
              <a:rPr lang="en-IN" sz="8000" b="1" i="0" dirty="0">
                <a:solidFill>
                  <a:srgbClr val="374151"/>
                </a:solidFill>
                <a:effectLst/>
              </a:rPr>
              <a:t>NumPy:</a:t>
            </a:r>
            <a:r>
              <a:rPr lang="en-IN" sz="8000" b="0" i="0" dirty="0">
                <a:solidFill>
                  <a:srgbClr val="374151"/>
                </a:solidFill>
                <a:effectLst/>
              </a:rPr>
              <a:t> For numerical computations.</a:t>
            </a:r>
          </a:p>
          <a:p>
            <a:pPr marL="457200" lvl="1" indent="0" algn="l">
              <a:buNone/>
            </a:pPr>
            <a:r>
              <a:rPr lang="en-IN" sz="8000" b="1" i="0" dirty="0">
                <a:solidFill>
                  <a:srgbClr val="374151"/>
                </a:solidFill>
                <a:effectLst/>
              </a:rPr>
              <a:t>Matplotlib/Seaborn:</a:t>
            </a:r>
            <a:r>
              <a:rPr lang="en-IN" sz="8000" b="0" i="0" dirty="0">
                <a:solidFill>
                  <a:srgbClr val="374151"/>
                </a:solidFill>
                <a:effectLst/>
              </a:rPr>
              <a:t> For data visualization</a:t>
            </a:r>
            <a:r>
              <a:rPr lang="en-IN" sz="8000" b="0" i="0" dirty="0">
                <a:solidFill>
                  <a:srgbClr val="374151"/>
                </a:solidFill>
                <a:effectLst/>
                <a:latin typeface="__Inter_d65c78"/>
              </a:rPr>
              <a:t>.</a:t>
            </a:r>
          </a:p>
          <a:p>
            <a:pPr marL="457200" lvl="1" indent="0" algn="l">
              <a:buNone/>
            </a:pPr>
            <a:endParaRPr lang="en-IN" sz="8000" b="0" i="0" dirty="0">
              <a:solidFill>
                <a:srgbClr val="374151"/>
              </a:solidFill>
              <a:effectLst/>
              <a:latin typeface="__Inter_d65c78"/>
            </a:endParaRPr>
          </a:p>
          <a:p>
            <a:pPr>
              <a:buFont typeface="Wingdings" panose="05000000000000000000" pitchFamily="2" charset="2"/>
              <a:buChar char="Ø"/>
            </a:pPr>
            <a:r>
              <a:rPr lang="en-IN" sz="8000" b="1" dirty="0"/>
              <a:t>Database</a:t>
            </a:r>
            <a:r>
              <a:rPr lang="en-IN" sz="8000" dirty="0"/>
              <a:t>: PostgreSQL/ MySQL</a:t>
            </a:r>
          </a:p>
          <a:p>
            <a:pPr>
              <a:buFont typeface="Wingdings" panose="05000000000000000000" pitchFamily="2" charset="2"/>
              <a:buChar char="Ø"/>
            </a:pPr>
            <a:r>
              <a:rPr lang="en-IN" sz="8000" b="1" dirty="0"/>
              <a:t>Version control and collaboration</a:t>
            </a:r>
            <a:r>
              <a:rPr lang="en-IN" sz="8000" dirty="0"/>
              <a:t>: Git</a:t>
            </a:r>
          </a:p>
          <a:p>
            <a:pPr>
              <a:buFont typeface="Wingdings" panose="05000000000000000000" pitchFamily="2" charset="2"/>
              <a:buChar char="Ø"/>
            </a:pPr>
            <a:r>
              <a:rPr lang="en-IN" sz="8000" b="1" dirty="0"/>
              <a:t>Deployment</a:t>
            </a:r>
            <a:r>
              <a:rPr lang="en-IN" sz="8000" dirty="0"/>
              <a:t>:  Server(</a:t>
            </a:r>
            <a:r>
              <a:rPr lang="en-IN" sz="8000" dirty="0" err="1"/>
              <a:t>apache</a:t>
            </a:r>
            <a:r>
              <a:rPr lang="en-IN" sz="8000" dirty="0"/>
              <a:t>), Docker and Cloud storage platforms like AWS or Google  Cloud.</a:t>
            </a:r>
            <a:br>
              <a:rPr lang="en-IN" sz="8000" dirty="0"/>
            </a:br>
            <a:r>
              <a:rPr lang="en-US" sz="7200" dirty="0">
                <a:solidFill>
                  <a:srgbClr val="374151"/>
                </a:solidFill>
                <a:latin typeface="__Inter_d65c78"/>
              </a:rPr>
              <a:t>    </a:t>
            </a:r>
          </a:p>
          <a:p>
            <a:pPr marL="0" indent="0">
              <a:buNone/>
            </a:pPr>
            <a:endParaRPr lang="en-US" sz="7200" dirty="0"/>
          </a:p>
          <a:p>
            <a:pPr>
              <a:buNone/>
            </a:pPr>
            <a:endParaRPr lang="en-US" sz="7200" dirty="0"/>
          </a:p>
          <a:p>
            <a:pPr marL="0" indent="0">
              <a:buNone/>
            </a:pPr>
            <a:endParaRPr lang="en-US" b="0" i="0" dirty="0">
              <a:solidFill>
                <a:srgbClr val="374151"/>
              </a:solidFill>
              <a:effectLst/>
              <a:latin typeface="__Inter_d65c78"/>
            </a:endParaRPr>
          </a:p>
          <a:p>
            <a:pPr>
              <a:buNone/>
            </a:pPr>
            <a:br>
              <a:rPr lang="en-US" dirty="0"/>
            </a:br>
            <a:endParaRPr lang="en-US" dirty="0"/>
          </a:p>
          <a:p>
            <a:pPr>
              <a:buNone/>
            </a:pPr>
            <a:r>
              <a:rPr lang="en-US" dirty="0"/>
              <a:t>	</a:t>
            </a:r>
          </a:p>
        </p:txBody>
      </p:sp>
    </p:spTree>
    <p:extLst>
      <p:ext uri="{BB962C8B-B14F-4D97-AF65-F5344CB8AC3E}">
        <p14:creationId xmlns:p14="http://schemas.microsoft.com/office/powerpoint/2010/main" val="26144495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sz="3600" b="1" dirty="0">
                <a:latin typeface="Times New Roman" pitchFamily="18" charset="0"/>
                <a:cs typeface="Times New Roman" pitchFamily="18" charset="0"/>
              </a:rPr>
              <a:t>APPLICATIONS</a:t>
            </a:r>
          </a:p>
        </p:txBody>
      </p:sp>
      <p:sp>
        <p:nvSpPr>
          <p:cNvPr id="3" name="Content Placeholder 2"/>
          <p:cNvSpPr>
            <a:spLocks noGrp="1"/>
          </p:cNvSpPr>
          <p:nvPr>
            <p:ph idx="1"/>
          </p:nvPr>
        </p:nvSpPr>
        <p:spPr>
          <a:xfrm>
            <a:off x="304800" y="1143000"/>
            <a:ext cx="8686800" cy="5486400"/>
          </a:xfrm>
        </p:spPr>
        <p:txBody>
          <a:bodyPr>
            <a:noAutofit/>
          </a:bodyPr>
          <a:lstStyle/>
          <a:p>
            <a:pPr>
              <a:buFont typeface="Wingdings" panose="05000000000000000000" pitchFamily="2" charset="2"/>
              <a:buChar char="q"/>
            </a:pPr>
            <a:r>
              <a:rPr lang="en-IN" sz="1800" b="1" i="0" dirty="0">
                <a:effectLst/>
                <a:latin typeface="Arial" panose="020B0604020202020204" pitchFamily="34" charset="0"/>
                <a:cs typeface="Arial" panose="020B0604020202020204" pitchFamily="34" charset="0"/>
              </a:rPr>
              <a:t>Real-Time Engagement Monitoring:</a:t>
            </a:r>
            <a:r>
              <a:rPr lang="en-US" sz="1800" dirty="0">
                <a:solidFill>
                  <a:srgbClr val="374151"/>
                </a:solidFill>
                <a:latin typeface="Arial" panose="020B0604020202020204" pitchFamily="34" charset="0"/>
                <a:cs typeface="Arial" panose="020B0604020202020204" pitchFamily="34" charset="0"/>
              </a:rPr>
              <a:t>E</a:t>
            </a:r>
            <a:r>
              <a:rPr lang="en-US" sz="1800" b="0" i="0" dirty="0">
                <a:solidFill>
                  <a:srgbClr val="374151"/>
                </a:solidFill>
                <a:effectLst/>
                <a:latin typeface="Arial" panose="020B0604020202020204" pitchFamily="34" charset="0"/>
                <a:cs typeface="Arial" panose="020B0604020202020204" pitchFamily="34" charset="0"/>
              </a:rPr>
              <a:t>nables timely interventions, such as adjusting teaching methods or providing additional support to students who may be struggling.</a:t>
            </a:r>
          </a:p>
          <a:p>
            <a:pPr marL="0" indent="0">
              <a:buNone/>
            </a:pPr>
            <a:endParaRPr lang="en-US" sz="1800" b="0" i="0" dirty="0">
              <a:solidFill>
                <a:srgbClr val="374151"/>
              </a:solidFill>
              <a:effectLst/>
              <a:latin typeface="Arial" panose="020B0604020202020204" pitchFamily="34" charset="0"/>
              <a:cs typeface="Arial" panose="020B0604020202020204" pitchFamily="34" charset="0"/>
            </a:endParaRPr>
          </a:p>
          <a:p>
            <a:pPr>
              <a:buFont typeface="Wingdings" panose="05000000000000000000" pitchFamily="2" charset="2"/>
              <a:buChar char="q"/>
            </a:pPr>
            <a:r>
              <a:rPr lang="en-IN" sz="1800" b="1" i="0" dirty="0">
                <a:effectLst/>
                <a:latin typeface="Arial" panose="020B0604020202020204" pitchFamily="34" charset="0"/>
                <a:cs typeface="Arial" panose="020B0604020202020204" pitchFamily="34" charset="0"/>
              </a:rPr>
              <a:t>Data-Driven Decision Making:</a:t>
            </a:r>
            <a:r>
              <a:rPr lang="en-US" sz="1800" b="0" i="0" dirty="0">
                <a:solidFill>
                  <a:srgbClr val="374151"/>
                </a:solidFill>
                <a:effectLst/>
                <a:latin typeface="Arial" panose="020B0604020202020204" pitchFamily="34" charset="0"/>
                <a:cs typeface="Arial" panose="020B0604020202020204" pitchFamily="34" charset="0"/>
              </a:rPr>
              <a:t>Data-driven approaches can enhance the effectiveness of teaching and improve overall educational outcomes.</a:t>
            </a:r>
          </a:p>
          <a:p>
            <a:pPr marL="0" indent="0">
              <a:buNone/>
            </a:pPr>
            <a:endParaRPr lang="en-US" sz="1800" b="0" i="0" dirty="0">
              <a:solidFill>
                <a:srgbClr val="374151"/>
              </a:solidFill>
              <a:effectLst/>
              <a:latin typeface="Arial" panose="020B0604020202020204" pitchFamily="34" charset="0"/>
              <a:cs typeface="Arial" panose="020B0604020202020204" pitchFamily="34" charset="0"/>
            </a:endParaRPr>
          </a:p>
          <a:p>
            <a:pPr>
              <a:buFont typeface="Wingdings" panose="05000000000000000000" pitchFamily="2" charset="2"/>
              <a:buChar char="q"/>
            </a:pPr>
            <a:r>
              <a:rPr lang="en-IN" sz="1800" b="1" i="0" dirty="0">
                <a:effectLst/>
                <a:latin typeface="Arial" panose="020B0604020202020204" pitchFamily="34" charset="0"/>
                <a:cs typeface="Arial" panose="020B0604020202020204" pitchFamily="34" charset="0"/>
              </a:rPr>
              <a:t>Enhanced Teacher-Student Interaction:</a:t>
            </a:r>
            <a:r>
              <a:rPr lang="en-US" sz="1800" b="0" i="0" dirty="0">
                <a:solidFill>
                  <a:srgbClr val="374151"/>
                </a:solidFill>
                <a:effectLst/>
                <a:latin typeface="Arial" panose="020B0604020202020204" pitchFamily="34" charset="0"/>
                <a:cs typeface="Arial" panose="020B0604020202020204" pitchFamily="34" charset="0"/>
              </a:rPr>
              <a:t>Improved interaction can create a more supportive and engaging learning environment, leading to higher student motivation and involvement.</a:t>
            </a:r>
          </a:p>
          <a:p>
            <a:pPr marL="0" indent="0">
              <a:buNone/>
            </a:pPr>
            <a:endParaRPr lang="en-US" sz="1800" b="0" i="0" dirty="0">
              <a:solidFill>
                <a:srgbClr val="374151"/>
              </a:solidFill>
              <a:effectLst/>
              <a:latin typeface="Arial" panose="020B0604020202020204" pitchFamily="34" charset="0"/>
              <a:cs typeface="Arial" panose="020B0604020202020204" pitchFamily="34" charset="0"/>
            </a:endParaRPr>
          </a:p>
          <a:p>
            <a:pPr>
              <a:buFont typeface="Wingdings" panose="05000000000000000000" pitchFamily="2" charset="2"/>
              <a:buChar char="q"/>
            </a:pPr>
            <a:r>
              <a:rPr lang="en-US" sz="1800" b="1" i="0" dirty="0">
                <a:effectLst/>
                <a:latin typeface="Arial" panose="020B0604020202020204" pitchFamily="34" charset="0"/>
                <a:cs typeface="Arial" panose="020B0604020202020204" pitchFamily="34" charset="0"/>
              </a:rPr>
              <a:t>Integration with Learning Management Systems (LMS):</a:t>
            </a:r>
            <a:r>
              <a:rPr lang="en-US" sz="1800" b="0" i="0" dirty="0">
                <a:solidFill>
                  <a:srgbClr val="374151"/>
                </a:solidFill>
                <a:effectLst/>
                <a:latin typeface="Arial" panose="020B0604020202020204" pitchFamily="34" charset="0"/>
                <a:cs typeface="Arial" panose="020B0604020202020204" pitchFamily="34" charset="0"/>
              </a:rPr>
              <a:t> This integration can provide a more comprehensive view of student engagement and performance, enriching the educational experience.</a:t>
            </a:r>
          </a:p>
          <a:p>
            <a:pPr marL="0" indent="0">
              <a:buNone/>
            </a:pPr>
            <a:endParaRPr lang="en-US" sz="1800" b="0" i="0" dirty="0">
              <a:solidFill>
                <a:srgbClr val="374151"/>
              </a:solidFill>
              <a:effectLst/>
              <a:latin typeface="Arial" panose="020B0604020202020204" pitchFamily="34" charset="0"/>
              <a:cs typeface="Arial" panose="020B0604020202020204" pitchFamily="34" charset="0"/>
            </a:endParaRPr>
          </a:p>
          <a:p>
            <a:pPr>
              <a:buFont typeface="Wingdings" panose="05000000000000000000" pitchFamily="2" charset="2"/>
              <a:buChar char="q"/>
            </a:pPr>
            <a:r>
              <a:rPr lang="en-IN" sz="1800" b="1" i="0" dirty="0">
                <a:effectLst/>
                <a:latin typeface="Arial" panose="020B0604020202020204" pitchFamily="34" charset="0"/>
                <a:cs typeface="Arial" panose="020B0604020202020204" pitchFamily="34" charset="0"/>
              </a:rPr>
              <a:t>Feedback and Assessment Tools:</a:t>
            </a:r>
            <a:r>
              <a:rPr lang="en-US" sz="1800" b="0" i="0" dirty="0">
                <a:solidFill>
                  <a:srgbClr val="374151"/>
                </a:solidFill>
                <a:effectLst/>
                <a:latin typeface="Arial" panose="020B0604020202020204" pitchFamily="34" charset="0"/>
                <a:cs typeface="Arial" panose="020B0604020202020204" pitchFamily="34" charset="0"/>
              </a:rPr>
              <a:t>Continuous feedback allows teachers to refine their approaches and assess the impact of changes in real-time, leading to ongoing improvement in teaching practices.</a:t>
            </a:r>
            <a:endParaRPr lang="en-IN" sz="1800" b="1" i="0" dirty="0">
              <a:effectLst/>
              <a:latin typeface="Arial" panose="020B0604020202020204" pitchFamily="34" charset="0"/>
              <a:cs typeface="Arial" panose="020B0604020202020204" pitchFamily="34" charset="0"/>
            </a:endParaRPr>
          </a:p>
          <a:p>
            <a:pPr>
              <a:buFont typeface="Wingdings" panose="05000000000000000000" pitchFamily="2" charset="2"/>
              <a:buChar char="q"/>
            </a:pPr>
            <a:endParaRPr lang="en-US" sz="800" b="1" i="0" dirty="0">
              <a:effectLst/>
              <a:latin typeface="__Inter_d65c78"/>
            </a:endParaRPr>
          </a:p>
          <a:p>
            <a:pPr>
              <a:buFont typeface="Wingdings" panose="05000000000000000000" pitchFamily="2" charset="2"/>
              <a:buChar char="q"/>
            </a:pPr>
            <a:endParaRPr lang="en-IN" sz="1050" b="1" i="0" dirty="0">
              <a:effectLst/>
              <a:latin typeface="__Inter_d65c78"/>
            </a:endParaRPr>
          </a:p>
          <a:p>
            <a:pPr>
              <a:buFont typeface="Wingdings" panose="05000000000000000000" pitchFamily="2" charset="2"/>
              <a:buChar char="q"/>
            </a:pPr>
            <a:endParaRPr lang="en-IN" sz="1600" b="1" i="0" dirty="0">
              <a:effectLst/>
              <a:latin typeface="__Inter_d65c78"/>
            </a:endParaRPr>
          </a:p>
          <a:p>
            <a:pPr>
              <a:buNone/>
            </a:pPr>
            <a:endParaRPr lang="en-US" sz="2800" dirty="0">
              <a:latin typeface="Times New Roman" pitchFamily="18" charset="0"/>
              <a:cs typeface="Times New Roman"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438401"/>
            <a:ext cx="8229600" cy="1447799"/>
          </a:xfrm>
        </p:spPr>
        <p:txBody>
          <a:bodyPr>
            <a:normAutofit/>
          </a:bodyPr>
          <a:lstStyle/>
          <a:p>
            <a:pPr>
              <a:buNone/>
            </a:pPr>
            <a:r>
              <a:rPr lang="en-US" sz="5400" dirty="0"/>
              <a:t>              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2948</TotalTime>
  <Words>1216</Words>
  <Application>Microsoft Office PowerPoint</Application>
  <PresentationFormat>On-screen Show (4:3)</PresentationFormat>
  <Paragraphs>148</Paragraphs>
  <Slides>14</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__Inter_d65c78</vt:lpstr>
      <vt:lpstr>Arial</vt:lpstr>
      <vt:lpstr>Arial Black</vt:lpstr>
      <vt:lpstr>Bahnschrift</vt:lpstr>
      <vt:lpstr>Bahnschrift SemiBold</vt:lpstr>
      <vt:lpstr>Calibri</vt:lpstr>
      <vt:lpstr>Times New Roman</vt:lpstr>
      <vt:lpstr>Wingdings</vt:lpstr>
      <vt:lpstr>Office Theme</vt:lpstr>
      <vt:lpstr>STUDENTS LISTENING PREDICTION IN CLASS USING Django WEB APPLICATION</vt:lpstr>
      <vt:lpstr>INTRODUCTION PYTHON-Django Web application</vt:lpstr>
      <vt:lpstr>ABSTRACT</vt:lpstr>
      <vt:lpstr>PowerPoint Presentation</vt:lpstr>
      <vt:lpstr>PowerPoint Presentation</vt:lpstr>
      <vt:lpstr>EXISTING SYSTEM</vt:lpstr>
      <vt:lpstr>DISADVANTAGE OF EXISTING SYSTEM</vt:lpstr>
      <vt:lpstr>PROPOPSED WORK</vt:lpstr>
      <vt:lpstr>ADVANTAGES OF PROPOSED WORK</vt:lpstr>
      <vt:lpstr>PROBLEM DEFINITION</vt:lpstr>
      <vt:lpstr>HARDWARE &amp; SOFTWARE REQUIREMENT </vt:lpstr>
      <vt:lpstr> SOFTWARE REQUIREMENTS: </vt:lpstr>
      <vt:lpstr>APPLICATIONS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SRI VENKATESHWARA COLLEGE OF ENGINEERING</dc:title>
  <dc:creator>ADMIN</dc:creator>
  <cp:lastModifiedBy>Madhu Mitha</cp:lastModifiedBy>
  <cp:revision>388</cp:revision>
  <dcterms:created xsi:type="dcterms:W3CDTF">2016-08-02T14:54:34Z</dcterms:created>
  <dcterms:modified xsi:type="dcterms:W3CDTF">2025-03-23T11:47:28Z</dcterms:modified>
</cp:coreProperties>
</file>